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x="12192000" cy="6858000"/>
  <p:notesSz cx="12192000" cy="6858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rgbClr val="5A4D5A"/>
                </a:solidFill>
                <a:latin typeface="Century Schoolbook"/>
                <a:cs typeface="Century Schoolbook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0" i="0">
                <a:solidFill>
                  <a:srgbClr val="5A4D5A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rgbClr val="5A4D5A"/>
                </a:solidFill>
                <a:latin typeface="Century Schoolbook"/>
                <a:cs typeface="Century Schoolbook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rgbClr val="5A4D5A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rgbClr val="5A4D5A"/>
                </a:solidFill>
                <a:latin typeface="Century Schoolbook"/>
                <a:cs typeface="Century Schoolbook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rgbClr val="5A4D5A"/>
                </a:solidFill>
                <a:latin typeface="Century Schoolbook"/>
                <a:cs typeface="Century Schoolbook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png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7" name="bg object 1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11710431" cy="6858000"/>
          </a:xfrm>
          <a:prstGeom prst="rect">
            <a:avLst/>
          </a:prstGeom>
        </p:spPr>
      </p:pic>
      <p:sp>
        <p:nvSpPr>
          <p:cNvPr id="18" name="bg object 18"/>
          <p:cNvSpPr/>
          <p:nvPr/>
        </p:nvSpPr>
        <p:spPr>
          <a:xfrm>
            <a:off x="2936748" y="2177795"/>
            <a:ext cx="8770620" cy="0"/>
          </a:xfrm>
          <a:custGeom>
            <a:avLst/>
            <a:gdLst/>
            <a:ahLst/>
            <a:cxnLst/>
            <a:rect l="l" t="t" r="r" b="b"/>
            <a:pathLst>
              <a:path w="8770620" h="0">
                <a:moveTo>
                  <a:pt x="0" y="0"/>
                </a:moveTo>
                <a:lnTo>
                  <a:pt x="8770620" y="0"/>
                </a:lnTo>
              </a:path>
            </a:pathLst>
          </a:custGeom>
          <a:ln w="38100">
            <a:solidFill>
              <a:srgbClr val="AC8082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464943" y="586181"/>
            <a:ext cx="8736838" cy="168808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rgbClr val="5A4D5A"/>
                </a:solidFill>
                <a:latin typeface="Century Schoolbook"/>
                <a:cs typeface="Century Schoolbook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013075" y="2332227"/>
            <a:ext cx="8614410" cy="34867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0" i="0">
                <a:solidFill>
                  <a:srgbClr val="5A4D5A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
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443483" rIns="0" bIns="0" rtlCol="0" vert="horz">
            <a:spAutoFit/>
          </a:bodyPr>
          <a:lstStyle/>
          <a:p>
            <a:pPr marL="5548630" marR="5080">
              <a:lnSpc>
                <a:spcPts val="4900"/>
              </a:lnSpc>
            </a:pPr>
            <a:r>
              <a:rPr dirty="0" sz="3900" spc="-10">
                <a:solidFill>
                  <a:srgbClr val="FDFBF7"/>
                </a:solidFill>
              </a:rPr>
              <a:t>Computer Programming</a:t>
            </a:r>
            <a:endParaRPr sz="3900"/>
          </a:p>
        </p:txBody>
      </p:sp>
      <p:sp>
        <p:nvSpPr>
          <p:cNvPr id="4" name="object 4" descr=""/>
          <p:cNvSpPr txBox="1"/>
          <p:nvPr/>
        </p:nvSpPr>
        <p:spPr>
          <a:xfrm>
            <a:off x="8001381" y="5026533"/>
            <a:ext cx="1692275" cy="32956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2000">
                <a:solidFill>
                  <a:srgbClr val="FDFBF7"/>
                </a:solidFill>
                <a:latin typeface="Calibri"/>
                <a:cs typeface="Calibri"/>
              </a:rPr>
              <a:t>Syed</a:t>
            </a:r>
            <a:r>
              <a:rPr dirty="0" sz="2000" spc="-65">
                <a:solidFill>
                  <a:srgbClr val="FDFBF7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DFBF7"/>
                </a:solidFill>
                <a:latin typeface="Calibri"/>
                <a:cs typeface="Calibri"/>
              </a:rPr>
              <a:t>Zaid</a:t>
            </a:r>
            <a:r>
              <a:rPr dirty="0" sz="2000" spc="-60">
                <a:solidFill>
                  <a:srgbClr val="FDFBF7"/>
                </a:solidFill>
                <a:latin typeface="Calibri"/>
                <a:cs typeface="Calibri"/>
              </a:rPr>
              <a:t> </a:t>
            </a:r>
            <a:r>
              <a:rPr dirty="0" sz="2000" spc="-10">
                <a:solidFill>
                  <a:srgbClr val="FDFBF7"/>
                </a:solidFill>
                <a:latin typeface="Calibri"/>
                <a:cs typeface="Calibri"/>
              </a:rPr>
              <a:t>Irshad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433705">
              <a:lnSpc>
                <a:spcPct val="100000"/>
              </a:lnSpc>
              <a:spcBef>
                <a:spcPts val="95"/>
              </a:spcBef>
            </a:pPr>
            <a:r>
              <a:rPr dirty="0" spc="-10"/>
              <a:t>Outline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3013075" y="2321439"/>
            <a:ext cx="3724910" cy="2746375"/>
          </a:xfrm>
          <a:prstGeom prst="rect">
            <a:avLst/>
          </a:prstGeom>
        </p:spPr>
        <p:txBody>
          <a:bodyPr wrap="square" lIns="0" tIns="16256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280"/>
              </a:spcBef>
              <a:buFont typeface="Corbel"/>
              <a:buChar char="–"/>
              <a:tabLst>
                <a:tab pos="332740" algn="l"/>
              </a:tabLst>
            </a:pPr>
            <a:r>
              <a:rPr dirty="0" sz="2000">
                <a:solidFill>
                  <a:srgbClr val="5A4D5A"/>
                </a:solidFill>
                <a:latin typeface="Calibri"/>
                <a:cs typeface="Calibri"/>
              </a:rPr>
              <a:t>Why</a:t>
            </a:r>
            <a:r>
              <a:rPr dirty="0" sz="2000" spc="-90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2000" spc="-10">
                <a:solidFill>
                  <a:srgbClr val="5A4D5A"/>
                </a:solidFill>
                <a:latin typeface="Calibri"/>
                <a:cs typeface="Calibri"/>
              </a:rPr>
              <a:t>Programming?</a:t>
            </a:r>
            <a:endParaRPr sz="2000">
              <a:latin typeface="Calibri"/>
              <a:cs typeface="Calibri"/>
            </a:endParaRPr>
          </a:p>
          <a:p>
            <a:pPr marL="332740" indent="-320040">
              <a:lnSpc>
                <a:spcPct val="100000"/>
              </a:lnSpc>
              <a:spcBef>
                <a:spcPts val="1180"/>
              </a:spcBef>
              <a:buFont typeface="Corbel"/>
              <a:buChar char="–"/>
              <a:tabLst>
                <a:tab pos="332740" algn="l"/>
              </a:tabLst>
            </a:pPr>
            <a:r>
              <a:rPr dirty="0" sz="2000">
                <a:solidFill>
                  <a:srgbClr val="5A4D5A"/>
                </a:solidFill>
                <a:latin typeface="Calibri"/>
                <a:cs typeface="Calibri"/>
              </a:rPr>
              <a:t>The</a:t>
            </a:r>
            <a:r>
              <a:rPr dirty="0" sz="2000" spc="-40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2000" spc="-10">
                <a:solidFill>
                  <a:srgbClr val="5A4D5A"/>
                </a:solidFill>
                <a:latin typeface="Calibri"/>
                <a:cs typeface="Calibri"/>
              </a:rPr>
              <a:t>Programming</a:t>
            </a:r>
            <a:r>
              <a:rPr dirty="0" sz="2000" spc="-35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2000" spc="-10">
                <a:solidFill>
                  <a:srgbClr val="5A4D5A"/>
                </a:solidFill>
                <a:latin typeface="Calibri"/>
                <a:cs typeface="Calibri"/>
              </a:rPr>
              <a:t>Process</a:t>
            </a:r>
            <a:endParaRPr sz="2000">
              <a:latin typeface="Calibri"/>
              <a:cs typeface="Calibri"/>
            </a:endParaRPr>
          </a:p>
          <a:p>
            <a:pPr marL="332740" indent="-320040">
              <a:lnSpc>
                <a:spcPct val="100000"/>
              </a:lnSpc>
              <a:spcBef>
                <a:spcPts val="1155"/>
              </a:spcBef>
              <a:buFont typeface="Corbel"/>
              <a:buChar char="–"/>
              <a:tabLst>
                <a:tab pos="332740" algn="l"/>
              </a:tabLst>
            </a:pPr>
            <a:r>
              <a:rPr dirty="0" sz="2000">
                <a:solidFill>
                  <a:srgbClr val="5A4D5A"/>
                </a:solidFill>
                <a:latin typeface="Calibri"/>
                <a:cs typeface="Calibri"/>
              </a:rPr>
              <a:t>What</a:t>
            </a:r>
            <a:r>
              <a:rPr dirty="0" sz="2000" spc="-85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2000" spc="-10">
                <a:solidFill>
                  <a:srgbClr val="5A4D5A"/>
                </a:solidFill>
                <a:latin typeface="Calibri"/>
                <a:cs typeface="Calibri"/>
              </a:rPr>
              <a:t>Programmers</a:t>
            </a:r>
            <a:r>
              <a:rPr dirty="0" sz="2000" spc="-35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2000" spc="-25">
                <a:solidFill>
                  <a:srgbClr val="5A4D5A"/>
                </a:solidFill>
                <a:latin typeface="Calibri"/>
                <a:cs typeface="Calibri"/>
              </a:rPr>
              <a:t>do?</a:t>
            </a:r>
            <a:endParaRPr sz="2000">
              <a:latin typeface="Calibri"/>
              <a:cs typeface="Calibri"/>
            </a:endParaRPr>
          </a:p>
          <a:p>
            <a:pPr marL="332740" indent="-320040">
              <a:lnSpc>
                <a:spcPct val="100000"/>
              </a:lnSpc>
              <a:spcBef>
                <a:spcPts val="1175"/>
              </a:spcBef>
              <a:buFont typeface="Corbel"/>
              <a:buChar char="–"/>
              <a:tabLst>
                <a:tab pos="332740" algn="l"/>
              </a:tabLst>
            </a:pPr>
            <a:r>
              <a:rPr dirty="0" sz="2000" spc="-10">
                <a:solidFill>
                  <a:srgbClr val="5A4D5A"/>
                </a:solidFill>
                <a:latin typeface="Calibri"/>
                <a:cs typeface="Calibri"/>
              </a:rPr>
              <a:t>Programming</a:t>
            </a:r>
            <a:r>
              <a:rPr dirty="0" sz="2000">
                <a:solidFill>
                  <a:srgbClr val="5A4D5A"/>
                </a:solidFill>
                <a:latin typeface="Calibri"/>
                <a:cs typeface="Calibri"/>
              </a:rPr>
              <a:t> as</a:t>
            </a:r>
            <a:r>
              <a:rPr dirty="0" sz="2000" spc="-45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5A4D5A"/>
                </a:solidFill>
                <a:latin typeface="Calibri"/>
                <a:cs typeface="Calibri"/>
              </a:rPr>
              <a:t>a</a:t>
            </a:r>
            <a:r>
              <a:rPr dirty="0" sz="2000" spc="-35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2000" spc="-10">
                <a:solidFill>
                  <a:srgbClr val="5A4D5A"/>
                </a:solidFill>
                <a:latin typeface="Calibri"/>
                <a:cs typeface="Calibri"/>
              </a:rPr>
              <a:t>Career</a:t>
            </a:r>
            <a:endParaRPr sz="2000">
              <a:latin typeface="Calibri"/>
              <a:cs typeface="Calibri"/>
            </a:endParaRPr>
          </a:p>
          <a:p>
            <a:pPr marL="332740" indent="-320040">
              <a:lnSpc>
                <a:spcPct val="100000"/>
              </a:lnSpc>
              <a:spcBef>
                <a:spcPts val="1155"/>
              </a:spcBef>
              <a:buFont typeface="Corbel"/>
              <a:buChar char="–"/>
              <a:tabLst>
                <a:tab pos="332740" algn="l"/>
              </a:tabLst>
            </a:pPr>
            <a:r>
              <a:rPr dirty="0" sz="2000">
                <a:solidFill>
                  <a:srgbClr val="5A4D5A"/>
                </a:solidFill>
                <a:latin typeface="Calibri"/>
                <a:cs typeface="Calibri"/>
              </a:rPr>
              <a:t>Level</a:t>
            </a:r>
            <a:r>
              <a:rPr dirty="0" sz="2000" spc="-15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5A4D5A"/>
                </a:solidFill>
                <a:latin typeface="Calibri"/>
                <a:cs typeface="Calibri"/>
              </a:rPr>
              <a:t>of</a:t>
            </a:r>
            <a:r>
              <a:rPr dirty="0" sz="2000" spc="-70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2000" spc="-10">
                <a:solidFill>
                  <a:srgbClr val="5A4D5A"/>
                </a:solidFill>
                <a:latin typeface="Calibri"/>
                <a:cs typeface="Calibri"/>
              </a:rPr>
              <a:t>Programming</a:t>
            </a:r>
            <a:r>
              <a:rPr dirty="0" sz="2000" spc="-35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2000" spc="-10">
                <a:solidFill>
                  <a:srgbClr val="5A4D5A"/>
                </a:solidFill>
                <a:latin typeface="Calibri"/>
                <a:cs typeface="Calibri"/>
              </a:rPr>
              <a:t>Languages</a:t>
            </a:r>
            <a:endParaRPr sz="2000">
              <a:latin typeface="Calibri"/>
              <a:cs typeface="Calibri"/>
            </a:endParaRPr>
          </a:p>
          <a:p>
            <a:pPr marL="332740" indent="-320040">
              <a:lnSpc>
                <a:spcPct val="100000"/>
              </a:lnSpc>
              <a:spcBef>
                <a:spcPts val="1175"/>
              </a:spcBef>
              <a:buFont typeface="Corbel"/>
              <a:buChar char="–"/>
              <a:tabLst>
                <a:tab pos="332740" algn="l"/>
              </a:tabLst>
            </a:pPr>
            <a:r>
              <a:rPr dirty="0" sz="2000">
                <a:solidFill>
                  <a:srgbClr val="5A4D5A"/>
                </a:solidFill>
                <a:latin typeface="Calibri"/>
                <a:cs typeface="Calibri"/>
              </a:rPr>
              <a:t>Computer</a:t>
            </a:r>
            <a:r>
              <a:rPr dirty="0" sz="2000" spc="-95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2000" spc="-10">
                <a:solidFill>
                  <a:srgbClr val="5A4D5A"/>
                </a:solidFill>
                <a:latin typeface="Calibri"/>
                <a:cs typeface="Calibri"/>
              </a:rPr>
              <a:t>Languages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433705">
              <a:lnSpc>
                <a:spcPct val="100000"/>
              </a:lnSpc>
              <a:spcBef>
                <a:spcPts val="95"/>
              </a:spcBef>
            </a:pPr>
            <a:r>
              <a:rPr dirty="0"/>
              <a:t>Why</a:t>
            </a:r>
            <a:r>
              <a:rPr dirty="0" spc="-110"/>
              <a:t> </a:t>
            </a:r>
            <a:r>
              <a:rPr dirty="0" spc="-10"/>
              <a:t>Programming?</a:t>
            </a:r>
          </a:p>
        </p:txBody>
      </p:sp>
      <p:sp>
        <p:nvSpPr>
          <p:cNvPr id="3" name="object 3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31445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35"/>
              </a:spcBef>
              <a:buFont typeface="Corbel"/>
              <a:buChar char="–"/>
              <a:tabLst>
                <a:tab pos="332740" algn="l"/>
              </a:tabLst>
            </a:pPr>
            <a:r>
              <a:rPr dirty="0" sz="1800" spc="-10"/>
              <a:t>Programming</a:t>
            </a:r>
            <a:r>
              <a:rPr dirty="0" sz="1800" spc="-50"/>
              <a:t> </a:t>
            </a:r>
            <a:r>
              <a:rPr dirty="0" sz="1800"/>
              <a:t>helps</a:t>
            </a:r>
            <a:r>
              <a:rPr dirty="0" sz="1800" spc="-35"/>
              <a:t> </a:t>
            </a:r>
            <a:r>
              <a:rPr dirty="0" sz="1800"/>
              <a:t>you</a:t>
            </a:r>
            <a:r>
              <a:rPr dirty="0" sz="1800" spc="-75"/>
              <a:t> </a:t>
            </a:r>
            <a:r>
              <a:rPr dirty="0" sz="1800" spc="-10"/>
              <a:t>understand</a:t>
            </a:r>
            <a:r>
              <a:rPr dirty="0" sz="1800" spc="5"/>
              <a:t> </a:t>
            </a:r>
            <a:r>
              <a:rPr dirty="0" sz="1800" spc="-10"/>
              <a:t>computers.</a:t>
            </a:r>
            <a:endParaRPr sz="1800"/>
          </a:p>
          <a:p>
            <a:pPr marL="332740" marR="5080" indent="-320675">
              <a:lnSpc>
                <a:spcPct val="100000"/>
              </a:lnSpc>
              <a:spcBef>
                <a:spcPts val="940"/>
              </a:spcBef>
              <a:buFont typeface="Corbel"/>
              <a:buChar char="–"/>
              <a:tabLst>
                <a:tab pos="332740" algn="l"/>
              </a:tabLst>
            </a:pPr>
            <a:r>
              <a:rPr dirty="0" sz="1800"/>
              <a:t>A</a:t>
            </a:r>
            <a:r>
              <a:rPr dirty="0" sz="1800" spc="15"/>
              <a:t> </a:t>
            </a:r>
            <a:r>
              <a:rPr dirty="0" sz="1800"/>
              <a:t>computer</a:t>
            </a:r>
            <a:r>
              <a:rPr dirty="0" sz="1800" spc="35"/>
              <a:t> </a:t>
            </a:r>
            <a:r>
              <a:rPr dirty="0" sz="1800"/>
              <a:t>is</a:t>
            </a:r>
            <a:r>
              <a:rPr dirty="0" sz="1800" spc="20"/>
              <a:t> </a:t>
            </a:r>
            <a:r>
              <a:rPr dirty="0" sz="1800"/>
              <a:t>only</a:t>
            </a:r>
            <a:r>
              <a:rPr dirty="0" sz="1800" spc="35"/>
              <a:t> </a:t>
            </a:r>
            <a:r>
              <a:rPr dirty="0" sz="1800"/>
              <a:t>a</a:t>
            </a:r>
            <a:r>
              <a:rPr dirty="0" sz="1800" spc="50"/>
              <a:t> </a:t>
            </a:r>
            <a:r>
              <a:rPr dirty="0" sz="1800"/>
              <a:t>tool.</a:t>
            </a:r>
            <a:r>
              <a:rPr dirty="0" sz="1800" spc="30"/>
              <a:t> </a:t>
            </a:r>
            <a:r>
              <a:rPr dirty="0" sz="1800"/>
              <a:t>If</a:t>
            </a:r>
            <a:r>
              <a:rPr dirty="0" sz="1800" spc="30"/>
              <a:t> </a:t>
            </a:r>
            <a:r>
              <a:rPr dirty="0" sz="1800"/>
              <a:t>you</a:t>
            </a:r>
            <a:r>
              <a:rPr dirty="0" sz="1800" spc="25"/>
              <a:t> </a:t>
            </a:r>
            <a:r>
              <a:rPr dirty="0" sz="1800"/>
              <a:t>learn</a:t>
            </a:r>
            <a:r>
              <a:rPr dirty="0" sz="1800" spc="40"/>
              <a:t> </a:t>
            </a:r>
            <a:r>
              <a:rPr dirty="0" sz="1800"/>
              <a:t>how</a:t>
            </a:r>
            <a:r>
              <a:rPr dirty="0" sz="1800" spc="40"/>
              <a:t> </a:t>
            </a:r>
            <a:r>
              <a:rPr dirty="0" sz="1800"/>
              <a:t>to</a:t>
            </a:r>
            <a:r>
              <a:rPr dirty="0" sz="1800" spc="35"/>
              <a:t> </a:t>
            </a:r>
            <a:r>
              <a:rPr dirty="0" sz="1800"/>
              <a:t>write</a:t>
            </a:r>
            <a:r>
              <a:rPr dirty="0" sz="1800" spc="30"/>
              <a:t> </a:t>
            </a:r>
            <a:r>
              <a:rPr dirty="0" sz="1800"/>
              <a:t>simple</a:t>
            </a:r>
            <a:r>
              <a:rPr dirty="0" sz="1800" spc="20"/>
              <a:t> </a:t>
            </a:r>
            <a:r>
              <a:rPr dirty="0" sz="1800"/>
              <a:t>programs,</a:t>
            </a:r>
            <a:r>
              <a:rPr dirty="0" sz="1800" spc="45"/>
              <a:t> </a:t>
            </a:r>
            <a:r>
              <a:rPr dirty="0" sz="1800"/>
              <a:t>you</a:t>
            </a:r>
            <a:r>
              <a:rPr dirty="0" sz="1800" spc="20"/>
              <a:t> </a:t>
            </a:r>
            <a:r>
              <a:rPr dirty="0" sz="1800"/>
              <a:t>will</a:t>
            </a:r>
            <a:r>
              <a:rPr dirty="0" sz="1800" spc="30"/>
              <a:t> </a:t>
            </a:r>
            <a:r>
              <a:rPr dirty="0" sz="1800"/>
              <a:t>gain</a:t>
            </a:r>
            <a:r>
              <a:rPr dirty="0" sz="1800" spc="20"/>
              <a:t> </a:t>
            </a:r>
            <a:r>
              <a:rPr dirty="0" sz="1800" spc="-20"/>
              <a:t>more </a:t>
            </a:r>
            <a:r>
              <a:rPr dirty="0" sz="1800"/>
              <a:t>knowledge</a:t>
            </a:r>
            <a:r>
              <a:rPr dirty="0" sz="1800" spc="-30"/>
              <a:t> </a:t>
            </a:r>
            <a:r>
              <a:rPr dirty="0" sz="1800"/>
              <a:t>about</a:t>
            </a:r>
            <a:r>
              <a:rPr dirty="0" sz="1800" spc="-50"/>
              <a:t> </a:t>
            </a:r>
            <a:r>
              <a:rPr dirty="0" sz="1800"/>
              <a:t>how</a:t>
            </a:r>
            <a:r>
              <a:rPr dirty="0" sz="1800" spc="-60"/>
              <a:t> </a:t>
            </a:r>
            <a:r>
              <a:rPr dirty="0" sz="1800"/>
              <a:t>a</a:t>
            </a:r>
            <a:r>
              <a:rPr dirty="0" sz="1800" spc="-70"/>
              <a:t> </a:t>
            </a:r>
            <a:r>
              <a:rPr dirty="0" sz="1800"/>
              <a:t>computer</a:t>
            </a:r>
            <a:r>
              <a:rPr dirty="0" sz="1800" spc="-30"/>
              <a:t> </a:t>
            </a:r>
            <a:r>
              <a:rPr dirty="0" sz="1800" spc="-10"/>
              <a:t>works.</a:t>
            </a:r>
            <a:endParaRPr sz="1800"/>
          </a:p>
          <a:p>
            <a:pPr marL="332740" indent="-320040">
              <a:lnSpc>
                <a:spcPct val="100000"/>
              </a:lnSpc>
              <a:spcBef>
                <a:spcPts val="940"/>
              </a:spcBef>
              <a:buFont typeface="Corbel"/>
              <a:buChar char="–"/>
              <a:tabLst>
                <a:tab pos="332740" algn="l"/>
              </a:tabLst>
            </a:pPr>
            <a:r>
              <a:rPr dirty="0" sz="1800"/>
              <a:t>Writing</a:t>
            </a:r>
            <a:r>
              <a:rPr dirty="0" sz="1800" spc="-60"/>
              <a:t> </a:t>
            </a:r>
            <a:r>
              <a:rPr dirty="0" sz="1800"/>
              <a:t>a</a:t>
            </a:r>
            <a:r>
              <a:rPr dirty="0" sz="1800" spc="-75"/>
              <a:t> </a:t>
            </a:r>
            <a:r>
              <a:rPr dirty="0" sz="1800"/>
              <a:t>few</a:t>
            </a:r>
            <a:r>
              <a:rPr dirty="0" sz="1800" spc="-65"/>
              <a:t> </a:t>
            </a:r>
            <a:r>
              <a:rPr dirty="0" sz="1800"/>
              <a:t>simple</a:t>
            </a:r>
            <a:r>
              <a:rPr dirty="0" sz="1800" spc="-40"/>
              <a:t> </a:t>
            </a:r>
            <a:r>
              <a:rPr dirty="0" sz="1800" spc="-10"/>
              <a:t>programs</a:t>
            </a:r>
            <a:r>
              <a:rPr dirty="0" sz="1800" spc="-50"/>
              <a:t> </a:t>
            </a:r>
            <a:r>
              <a:rPr dirty="0" sz="1800"/>
              <a:t>increases</a:t>
            </a:r>
            <a:r>
              <a:rPr dirty="0" sz="1800" spc="-35"/>
              <a:t> </a:t>
            </a:r>
            <a:r>
              <a:rPr dirty="0" sz="1800"/>
              <a:t>your</a:t>
            </a:r>
            <a:r>
              <a:rPr dirty="0" sz="1800" spc="-75"/>
              <a:t> </a:t>
            </a:r>
            <a:r>
              <a:rPr dirty="0" sz="1800"/>
              <a:t>confidence</a:t>
            </a:r>
            <a:r>
              <a:rPr dirty="0" sz="1800" spc="-10"/>
              <a:t> level.</a:t>
            </a:r>
            <a:endParaRPr sz="1800"/>
          </a:p>
          <a:p>
            <a:pPr marL="332740" indent="-320040">
              <a:lnSpc>
                <a:spcPct val="100000"/>
              </a:lnSpc>
              <a:spcBef>
                <a:spcPts val="910"/>
              </a:spcBef>
              <a:buFont typeface="Corbel"/>
              <a:buChar char="–"/>
              <a:tabLst>
                <a:tab pos="332740" algn="l"/>
              </a:tabLst>
            </a:pPr>
            <a:r>
              <a:rPr dirty="0" sz="1800"/>
              <a:t>Many people find</a:t>
            </a:r>
            <a:r>
              <a:rPr dirty="0" sz="1800" spc="10"/>
              <a:t> </a:t>
            </a:r>
            <a:r>
              <a:rPr dirty="0" sz="1800"/>
              <a:t>great</a:t>
            </a:r>
            <a:r>
              <a:rPr dirty="0" sz="1800" spc="25"/>
              <a:t> </a:t>
            </a:r>
            <a:r>
              <a:rPr dirty="0" sz="1800"/>
              <a:t>personal</a:t>
            </a:r>
            <a:r>
              <a:rPr dirty="0" sz="1800" spc="40"/>
              <a:t> </a:t>
            </a:r>
            <a:r>
              <a:rPr dirty="0" sz="1800"/>
              <a:t>satisfaction</a:t>
            </a:r>
            <a:r>
              <a:rPr dirty="0" sz="1800" spc="-5"/>
              <a:t> </a:t>
            </a:r>
            <a:r>
              <a:rPr dirty="0" sz="1800"/>
              <a:t>in</a:t>
            </a:r>
            <a:r>
              <a:rPr dirty="0" sz="1800" spc="15"/>
              <a:t> </a:t>
            </a:r>
            <a:r>
              <a:rPr dirty="0" sz="1800"/>
              <a:t>creating</a:t>
            </a:r>
            <a:r>
              <a:rPr dirty="0" sz="1800" spc="15"/>
              <a:t> </a:t>
            </a:r>
            <a:r>
              <a:rPr dirty="0" sz="1800"/>
              <a:t>a</a:t>
            </a:r>
            <a:r>
              <a:rPr dirty="0" sz="1800" spc="25"/>
              <a:t> </a:t>
            </a:r>
            <a:r>
              <a:rPr dirty="0" sz="1800"/>
              <a:t>set</a:t>
            </a:r>
            <a:r>
              <a:rPr dirty="0" sz="1800" spc="-5"/>
              <a:t> </a:t>
            </a:r>
            <a:r>
              <a:rPr dirty="0" sz="1800"/>
              <a:t>of</a:t>
            </a:r>
            <a:r>
              <a:rPr dirty="0" sz="1800" spc="25"/>
              <a:t> </a:t>
            </a:r>
            <a:r>
              <a:rPr dirty="0" sz="1800"/>
              <a:t>instructions</a:t>
            </a:r>
            <a:r>
              <a:rPr dirty="0" sz="1800" spc="25"/>
              <a:t> </a:t>
            </a:r>
            <a:r>
              <a:rPr dirty="0" sz="1800"/>
              <a:t>that solve</a:t>
            </a:r>
            <a:r>
              <a:rPr dirty="0" sz="1800" spc="-5"/>
              <a:t> </a:t>
            </a:r>
            <a:r>
              <a:rPr dirty="0" sz="1800" spc="-50"/>
              <a:t>a</a:t>
            </a:r>
            <a:endParaRPr sz="1800"/>
          </a:p>
          <a:p>
            <a:pPr marL="332740">
              <a:lnSpc>
                <a:spcPct val="100000"/>
              </a:lnSpc>
              <a:spcBef>
                <a:spcPts val="25"/>
              </a:spcBef>
            </a:pPr>
            <a:r>
              <a:rPr dirty="0" sz="1800" spc="-10"/>
              <a:t>problem.</a:t>
            </a:r>
            <a:endParaRPr sz="1800"/>
          </a:p>
          <a:p>
            <a:pPr marL="332740" indent="-320040">
              <a:lnSpc>
                <a:spcPct val="100000"/>
              </a:lnSpc>
              <a:spcBef>
                <a:spcPts val="940"/>
              </a:spcBef>
              <a:buFont typeface="Corbel"/>
              <a:buChar char="–"/>
              <a:tabLst>
                <a:tab pos="332740" algn="l"/>
              </a:tabLst>
            </a:pPr>
            <a:r>
              <a:rPr dirty="0" sz="1800"/>
              <a:t>Learning</a:t>
            </a:r>
            <a:r>
              <a:rPr dirty="0" sz="1800" spc="370"/>
              <a:t> </a:t>
            </a:r>
            <a:r>
              <a:rPr dirty="0" sz="1800"/>
              <a:t>programming</a:t>
            </a:r>
            <a:r>
              <a:rPr dirty="0" sz="1800" spc="360"/>
              <a:t> </a:t>
            </a:r>
            <a:r>
              <a:rPr dirty="0" sz="1800"/>
              <a:t>lets</a:t>
            </a:r>
            <a:r>
              <a:rPr dirty="0" sz="1800" spc="360"/>
              <a:t> </a:t>
            </a:r>
            <a:r>
              <a:rPr dirty="0" sz="1800"/>
              <a:t>you</a:t>
            </a:r>
            <a:r>
              <a:rPr dirty="0" sz="1800" spc="370"/>
              <a:t> </a:t>
            </a:r>
            <a:r>
              <a:rPr dirty="0" sz="1800"/>
              <a:t>find</a:t>
            </a:r>
            <a:r>
              <a:rPr dirty="0" sz="1800" spc="350"/>
              <a:t> </a:t>
            </a:r>
            <a:r>
              <a:rPr dirty="0" sz="1800"/>
              <a:t>out</a:t>
            </a:r>
            <a:r>
              <a:rPr dirty="0" sz="1800" spc="395"/>
              <a:t> </a:t>
            </a:r>
            <a:r>
              <a:rPr dirty="0" sz="1800"/>
              <a:t>quickly</a:t>
            </a:r>
            <a:r>
              <a:rPr dirty="0" sz="1800" spc="355"/>
              <a:t> </a:t>
            </a:r>
            <a:r>
              <a:rPr dirty="0" sz="1800"/>
              <a:t>whether</a:t>
            </a:r>
            <a:r>
              <a:rPr dirty="0" sz="1800" spc="360"/>
              <a:t> </a:t>
            </a:r>
            <a:r>
              <a:rPr dirty="0" sz="1800"/>
              <a:t>you</a:t>
            </a:r>
            <a:r>
              <a:rPr dirty="0" sz="1800" spc="365"/>
              <a:t> </a:t>
            </a:r>
            <a:r>
              <a:rPr dirty="0" sz="1800"/>
              <a:t>like</a:t>
            </a:r>
            <a:r>
              <a:rPr dirty="0" sz="1800" spc="345"/>
              <a:t> </a:t>
            </a:r>
            <a:r>
              <a:rPr dirty="0" sz="1800"/>
              <a:t>programming</a:t>
            </a:r>
            <a:r>
              <a:rPr dirty="0" sz="1800" spc="350"/>
              <a:t> </a:t>
            </a:r>
            <a:r>
              <a:rPr dirty="0" sz="1800" spc="-25"/>
              <a:t>and</a:t>
            </a:r>
            <a:endParaRPr sz="1800"/>
          </a:p>
          <a:p>
            <a:pPr marL="332740">
              <a:lnSpc>
                <a:spcPct val="100000"/>
              </a:lnSpc>
            </a:pPr>
            <a:r>
              <a:rPr dirty="0" sz="1800"/>
              <a:t>whether</a:t>
            </a:r>
            <a:r>
              <a:rPr dirty="0" sz="1800" spc="-25"/>
              <a:t> </a:t>
            </a:r>
            <a:r>
              <a:rPr dirty="0" sz="1800"/>
              <a:t>you</a:t>
            </a:r>
            <a:r>
              <a:rPr dirty="0" sz="1800" spc="-65"/>
              <a:t> </a:t>
            </a:r>
            <a:r>
              <a:rPr dirty="0" sz="1800"/>
              <a:t>have</a:t>
            </a:r>
            <a:r>
              <a:rPr dirty="0" sz="1800" spc="-45"/>
              <a:t> </a:t>
            </a:r>
            <a:r>
              <a:rPr dirty="0" sz="1800"/>
              <a:t>the</a:t>
            </a:r>
            <a:r>
              <a:rPr dirty="0" sz="1800" spc="-50"/>
              <a:t> </a:t>
            </a:r>
            <a:r>
              <a:rPr dirty="0" sz="1800"/>
              <a:t>analytical</a:t>
            </a:r>
            <a:r>
              <a:rPr dirty="0" sz="1800" spc="-20"/>
              <a:t> </a:t>
            </a:r>
            <a:r>
              <a:rPr dirty="0" sz="1800"/>
              <a:t>turn</a:t>
            </a:r>
            <a:r>
              <a:rPr dirty="0" sz="1800" spc="-50"/>
              <a:t> </a:t>
            </a:r>
            <a:r>
              <a:rPr dirty="0" sz="1800"/>
              <a:t>of</a:t>
            </a:r>
            <a:r>
              <a:rPr dirty="0" sz="1800" spc="-60"/>
              <a:t> </a:t>
            </a:r>
            <a:r>
              <a:rPr dirty="0" sz="1800"/>
              <a:t>mind</a:t>
            </a:r>
            <a:r>
              <a:rPr dirty="0" sz="1800" spc="-45"/>
              <a:t> </a:t>
            </a:r>
            <a:r>
              <a:rPr dirty="0" sz="1800" spc="-10"/>
              <a:t>programmers</a:t>
            </a:r>
            <a:r>
              <a:rPr dirty="0" sz="1800" spc="-30"/>
              <a:t> </a:t>
            </a:r>
            <a:r>
              <a:rPr dirty="0" sz="1800" spc="-10"/>
              <a:t>need.</a:t>
            </a:r>
            <a:endParaRPr sz="1800"/>
          </a:p>
          <a:p>
            <a:pPr marL="332740" indent="-320040">
              <a:lnSpc>
                <a:spcPct val="100000"/>
              </a:lnSpc>
              <a:spcBef>
                <a:spcPts val="935"/>
              </a:spcBef>
              <a:buFont typeface="Corbel"/>
              <a:buChar char="–"/>
              <a:tabLst>
                <a:tab pos="332740" algn="l"/>
              </a:tabLst>
            </a:pPr>
            <a:r>
              <a:rPr dirty="0" sz="1800"/>
              <a:t>Even</a:t>
            </a:r>
            <a:r>
              <a:rPr dirty="0" sz="1800" spc="35"/>
              <a:t> </a:t>
            </a:r>
            <a:r>
              <a:rPr dirty="0" sz="1800"/>
              <a:t>if</a:t>
            </a:r>
            <a:r>
              <a:rPr dirty="0" sz="1800" spc="45"/>
              <a:t> </a:t>
            </a:r>
            <a:r>
              <a:rPr dirty="0" sz="1800"/>
              <a:t>you</a:t>
            </a:r>
            <a:r>
              <a:rPr dirty="0" sz="1800" spc="40"/>
              <a:t> </a:t>
            </a:r>
            <a:r>
              <a:rPr dirty="0" sz="1800"/>
              <a:t>decide</a:t>
            </a:r>
            <a:r>
              <a:rPr dirty="0" sz="1800" spc="40"/>
              <a:t> </a:t>
            </a:r>
            <a:r>
              <a:rPr dirty="0" sz="1800"/>
              <a:t>that</a:t>
            </a:r>
            <a:r>
              <a:rPr dirty="0" sz="1800" spc="45"/>
              <a:t> </a:t>
            </a:r>
            <a:r>
              <a:rPr dirty="0" sz="1800"/>
              <a:t>programming</a:t>
            </a:r>
            <a:r>
              <a:rPr dirty="0" sz="1800" spc="40"/>
              <a:t> </a:t>
            </a:r>
            <a:r>
              <a:rPr dirty="0" sz="1800"/>
              <a:t>is</a:t>
            </a:r>
            <a:r>
              <a:rPr dirty="0" sz="1800" spc="35"/>
              <a:t> </a:t>
            </a:r>
            <a:r>
              <a:rPr dirty="0" sz="1800"/>
              <a:t>not</a:t>
            </a:r>
            <a:r>
              <a:rPr dirty="0" sz="1800" spc="45"/>
              <a:t> </a:t>
            </a:r>
            <a:r>
              <a:rPr dirty="0" sz="1800"/>
              <a:t>for</a:t>
            </a:r>
            <a:r>
              <a:rPr dirty="0" sz="1800" spc="40"/>
              <a:t> </a:t>
            </a:r>
            <a:r>
              <a:rPr dirty="0" sz="1800"/>
              <a:t>you,</a:t>
            </a:r>
            <a:r>
              <a:rPr dirty="0" sz="1800" spc="55"/>
              <a:t> </a:t>
            </a:r>
            <a:r>
              <a:rPr dirty="0" sz="1800" spc="-10"/>
              <a:t>understanding</a:t>
            </a:r>
            <a:r>
              <a:rPr dirty="0" sz="1800" spc="40"/>
              <a:t> </a:t>
            </a:r>
            <a:r>
              <a:rPr dirty="0" sz="1800"/>
              <a:t>the</a:t>
            </a:r>
            <a:r>
              <a:rPr dirty="0" sz="1800" spc="40"/>
              <a:t> </a:t>
            </a:r>
            <a:r>
              <a:rPr dirty="0" sz="1800"/>
              <a:t>process</a:t>
            </a:r>
            <a:r>
              <a:rPr dirty="0" sz="1800" spc="40"/>
              <a:t> </a:t>
            </a:r>
            <a:r>
              <a:rPr dirty="0" sz="1800" spc="-10"/>
              <a:t>certainly</a:t>
            </a:r>
            <a:endParaRPr sz="1800"/>
          </a:p>
          <a:p>
            <a:pPr marL="332740">
              <a:lnSpc>
                <a:spcPct val="100000"/>
              </a:lnSpc>
              <a:spcBef>
                <a:spcPts val="25"/>
              </a:spcBef>
            </a:pPr>
            <a:r>
              <a:rPr dirty="0" sz="1800"/>
              <a:t>will</a:t>
            </a:r>
            <a:r>
              <a:rPr dirty="0" sz="1800" spc="-60"/>
              <a:t> </a:t>
            </a:r>
            <a:r>
              <a:rPr dirty="0" sz="1800"/>
              <a:t>increase</a:t>
            </a:r>
            <a:r>
              <a:rPr dirty="0" sz="1800" spc="-15"/>
              <a:t> </a:t>
            </a:r>
            <a:r>
              <a:rPr dirty="0" sz="1800"/>
              <a:t>your</a:t>
            </a:r>
            <a:r>
              <a:rPr dirty="0" sz="1800" spc="-35"/>
              <a:t> </a:t>
            </a:r>
            <a:r>
              <a:rPr dirty="0" sz="1800" spc="-10"/>
              <a:t>appreciation</a:t>
            </a:r>
            <a:r>
              <a:rPr dirty="0" sz="1800" spc="-15"/>
              <a:t> </a:t>
            </a:r>
            <a:r>
              <a:rPr dirty="0" sz="1800"/>
              <a:t>of</a:t>
            </a:r>
            <a:r>
              <a:rPr dirty="0" sz="1800" spc="-55"/>
              <a:t> </a:t>
            </a:r>
            <a:r>
              <a:rPr dirty="0" sz="1800"/>
              <a:t>what</a:t>
            </a:r>
            <a:r>
              <a:rPr dirty="0" sz="1800" spc="-50"/>
              <a:t> </a:t>
            </a:r>
            <a:r>
              <a:rPr dirty="0" sz="1800" spc="-10"/>
              <a:t>programmers</a:t>
            </a:r>
            <a:r>
              <a:rPr dirty="0" sz="1800" spc="-20"/>
              <a:t> </a:t>
            </a:r>
            <a:r>
              <a:rPr dirty="0" sz="1800"/>
              <a:t>and</a:t>
            </a:r>
            <a:r>
              <a:rPr dirty="0" sz="1800" spc="-40"/>
              <a:t> </a:t>
            </a:r>
            <a:r>
              <a:rPr dirty="0" sz="1800" spc="-10"/>
              <a:t>computers</a:t>
            </a:r>
            <a:r>
              <a:rPr dirty="0" sz="1800" spc="-15"/>
              <a:t> </a:t>
            </a:r>
            <a:r>
              <a:rPr dirty="0" sz="1800"/>
              <a:t>can</a:t>
            </a:r>
            <a:r>
              <a:rPr dirty="0" sz="1800" spc="-60"/>
              <a:t> </a:t>
            </a:r>
            <a:r>
              <a:rPr dirty="0" sz="1800" spc="-25"/>
              <a:t>do.</a:t>
            </a:r>
            <a:endParaRPr sz="18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433705">
              <a:lnSpc>
                <a:spcPct val="100000"/>
              </a:lnSpc>
              <a:spcBef>
                <a:spcPts val="95"/>
              </a:spcBef>
            </a:pPr>
            <a:r>
              <a:rPr dirty="0"/>
              <a:t>The</a:t>
            </a:r>
            <a:r>
              <a:rPr dirty="0" spc="-195"/>
              <a:t> </a:t>
            </a:r>
            <a:r>
              <a:rPr dirty="0"/>
              <a:t>Programming</a:t>
            </a:r>
            <a:r>
              <a:rPr dirty="0" spc="-165"/>
              <a:t> </a:t>
            </a:r>
            <a:r>
              <a:rPr dirty="0" spc="-10"/>
              <a:t>Process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3013075" y="2308715"/>
            <a:ext cx="6562090" cy="2592705"/>
          </a:xfrm>
          <a:prstGeom prst="rect">
            <a:avLst/>
          </a:prstGeom>
        </p:spPr>
        <p:txBody>
          <a:bodyPr wrap="square" lIns="0" tIns="17526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380"/>
              </a:spcBef>
              <a:buFont typeface="Corbel"/>
              <a:buChar char="–"/>
              <a:tabLst>
                <a:tab pos="332740" algn="l"/>
              </a:tabLst>
            </a:pPr>
            <a:r>
              <a:rPr dirty="0" sz="2000">
                <a:solidFill>
                  <a:srgbClr val="5A4D5A"/>
                </a:solidFill>
                <a:latin typeface="Calibri"/>
                <a:cs typeface="Calibri"/>
              </a:rPr>
              <a:t>There</a:t>
            </a:r>
            <a:r>
              <a:rPr dirty="0" sz="2000" spc="-25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5A4D5A"/>
                </a:solidFill>
                <a:latin typeface="Calibri"/>
                <a:cs typeface="Calibri"/>
              </a:rPr>
              <a:t>are</a:t>
            </a:r>
            <a:r>
              <a:rPr dirty="0" sz="2000" spc="-65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5A4D5A"/>
                </a:solidFill>
                <a:latin typeface="Calibri"/>
                <a:cs typeface="Calibri"/>
              </a:rPr>
              <a:t>five</a:t>
            </a:r>
            <a:r>
              <a:rPr dirty="0" sz="2000" spc="-25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5A4D5A"/>
                </a:solidFill>
                <a:latin typeface="Calibri"/>
                <a:cs typeface="Calibri"/>
              </a:rPr>
              <a:t>main</a:t>
            </a:r>
            <a:r>
              <a:rPr dirty="0" sz="2000" spc="-25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2000" spc="-10">
                <a:solidFill>
                  <a:srgbClr val="5A4D5A"/>
                </a:solidFill>
                <a:latin typeface="Calibri"/>
                <a:cs typeface="Calibri"/>
              </a:rPr>
              <a:t>ingredients</a:t>
            </a:r>
            <a:r>
              <a:rPr dirty="0" sz="2000" spc="-25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5A4D5A"/>
                </a:solidFill>
                <a:latin typeface="Calibri"/>
                <a:cs typeface="Calibri"/>
              </a:rPr>
              <a:t>in</a:t>
            </a:r>
            <a:r>
              <a:rPr dirty="0" sz="2000" spc="-70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5A4D5A"/>
                </a:solidFill>
                <a:latin typeface="Calibri"/>
                <a:cs typeface="Calibri"/>
              </a:rPr>
              <a:t>the</a:t>
            </a:r>
            <a:r>
              <a:rPr dirty="0" sz="2000" spc="-45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2000" spc="-10">
                <a:solidFill>
                  <a:srgbClr val="5A4D5A"/>
                </a:solidFill>
                <a:latin typeface="Calibri"/>
                <a:cs typeface="Calibri"/>
              </a:rPr>
              <a:t>programming</a:t>
            </a:r>
            <a:r>
              <a:rPr dirty="0" sz="2000" spc="-35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2000" spc="-10">
                <a:solidFill>
                  <a:srgbClr val="5A4D5A"/>
                </a:solidFill>
                <a:latin typeface="Calibri"/>
                <a:cs typeface="Calibri"/>
              </a:rPr>
              <a:t>process:</a:t>
            </a:r>
            <a:endParaRPr sz="2000">
              <a:latin typeface="Calibri"/>
              <a:cs typeface="Calibri"/>
            </a:endParaRPr>
          </a:p>
          <a:p>
            <a:pPr lvl="1" marL="652780" indent="-320040">
              <a:lnSpc>
                <a:spcPct val="100000"/>
              </a:lnSpc>
              <a:spcBef>
                <a:spcPts val="1165"/>
              </a:spcBef>
              <a:buFont typeface="Corbel"/>
              <a:buChar char="–"/>
              <a:tabLst>
                <a:tab pos="652780" algn="l"/>
              </a:tabLst>
            </a:pP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Defining</a:t>
            </a:r>
            <a:r>
              <a:rPr dirty="0" sz="1800" spc="-30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the</a:t>
            </a:r>
            <a:r>
              <a:rPr dirty="0" sz="1800" spc="-55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5A4D5A"/>
                </a:solidFill>
                <a:latin typeface="Calibri"/>
                <a:cs typeface="Calibri"/>
              </a:rPr>
              <a:t>problem</a:t>
            </a:r>
            <a:endParaRPr sz="1800">
              <a:latin typeface="Calibri"/>
              <a:cs typeface="Calibri"/>
            </a:endParaRPr>
          </a:p>
          <a:p>
            <a:pPr lvl="1" marL="652780" indent="-320040">
              <a:lnSpc>
                <a:spcPct val="100000"/>
              </a:lnSpc>
              <a:spcBef>
                <a:spcPts val="1150"/>
              </a:spcBef>
              <a:buFont typeface="Corbel"/>
              <a:buChar char="–"/>
              <a:tabLst>
                <a:tab pos="652780" algn="l"/>
              </a:tabLst>
            </a:pP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Planning</a:t>
            </a:r>
            <a:r>
              <a:rPr dirty="0" sz="1800" spc="-35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the</a:t>
            </a:r>
            <a:r>
              <a:rPr dirty="0" sz="1800" spc="-50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5A4D5A"/>
                </a:solidFill>
                <a:latin typeface="Calibri"/>
                <a:cs typeface="Calibri"/>
              </a:rPr>
              <a:t>solution</a:t>
            </a:r>
            <a:endParaRPr sz="1800">
              <a:latin typeface="Calibri"/>
              <a:cs typeface="Calibri"/>
            </a:endParaRPr>
          </a:p>
          <a:p>
            <a:pPr lvl="1" marL="652780" indent="-320040">
              <a:lnSpc>
                <a:spcPct val="100000"/>
              </a:lnSpc>
              <a:spcBef>
                <a:spcPts val="1130"/>
              </a:spcBef>
              <a:buFont typeface="Corbel"/>
              <a:buChar char="–"/>
              <a:tabLst>
                <a:tab pos="652780" algn="l"/>
              </a:tabLst>
            </a:pP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Coding</a:t>
            </a:r>
            <a:r>
              <a:rPr dirty="0" sz="1800" spc="-20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the</a:t>
            </a:r>
            <a:r>
              <a:rPr dirty="0" sz="1800" spc="-40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5A4D5A"/>
                </a:solidFill>
                <a:latin typeface="Calibri"/>
                <a:cs typeface="Calibri"/>
              </a:rPr>
              <a:t>program</a:t>
            </a:r>
            <a:endParaRPr sz="1800">
              <a:latin typeface="Calibri"/>
              <a:cs typeface="Calibri"/>
            </a:endParaRPr>
          </a:p>
          <a:p>
            <a:pPr lvl="1" marL="652780" indent="-320040">
              <a:lnSpc>
                <a:spcPct val="100000"/>
              </a:lnSpc>
              <a:spcBef>
                <a:spcPts val="1155"/>
              </a:spcBef>
              <a:buFont typeface="Corbel"/>
              <a:buChar char="–"/>
              <a:tabLst>
                <a:tab pos="652780" algn="l"/>
              </a:tabLst>
            </a:pPr>
            <a:r>
              <a:rPr dirty="0" sz="1800" spc="-25">
                <a:solidFill>
                  <a:srgbClr val="5A4D5A"/>
                </a:solidFill>
                <a:latin typeface="Calibri"/>
                <a:cs typeface="Calibri"/>
              </a:rPr>
              <a:t>Testing </a:t>
            </a: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the</a:t>
            </a:r>
            <a:r>
              <a:rPr dirty="0" sz="1800" spc="-45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5A4D5A"/>
                </a:solidFill>
                <a:latin typeface="Calibri"/>
                <a:cs typeface="Calibri"/>
              </a:rPr>
              <a:t>program</a:t>
            </a:r>
            <a:endParaRPr sz="1800">
              <a:latin typeface="Calibri"/>
              <a:cs typeface="Calibri"/>
            </a:endParaRPr>
          </a:p>
          <a:p>
            <a:pPr lvl="1" marL="652780" indent="-320040">
              <a:lnSpc>
                <a:spcPct val="100000"/>
              </a:lnSpc>
              <a:spcBef>
                <a:spcPts val="1130"/>
              </a:spcBef>
              <a:buFont typeface="Corbel"/>
              <a:buChar char="–"/>
              <a:tabLst>
                <a:tab pos="652780" algn="l"/>
              </a:tabLst>
            </a:pPr>
            <a:r>
              <a:rPr dirty="0" sz="1800" spc="-10">
                <a:solidFill>
                  <a:srgbClr val="5A4D5A"/>
                </a:solidFill>
                <a:latin typeface="Calibri"/>
                <a:cs typeface="Calibri"/>
              </a:rPr>
              <a:t>Documenting</a:t>
            </a:r>
            <a:r>
              <a:rPr dirty="0" sz="1800" spc="5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the</a:t>
            </a:r>
            <a:r>
              <a:rPr dirty="0" sz="1800" spc="-35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5A4D5A"/>
                </a:solidFill>
                <a:latin typeface="Calibri"/>
                <a:cs typeface="Calibri"/>
              </a:rPr>
              <a:t>program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433705">
              <a:lnSpc>
                <a:spcPct val="100000"/>
              </a:lnSpc>
              <a:spcBef>
                <a:spcPts val="95"/>
              </a:spcBef>
            </a:pPr>
            <a:r>
              <a:rPr dirty="0"/>
              <a:t>The</a:t>
            </a:r>
            <a:r>
              <a:rPr dirty="0" spc="-195"/>
              <a:t> </a:t>
            </a:r>
            <a:r>
              <a:rPr dirty="0"/>
              <a:t>Programming</a:t>
            </a:r>
            <a:r>
              <a:rPr dirty="0" spc="-165"/>
              <a:t> </a:t>
            </a:r>
            <a:r>
              <a:rPr dirty="0" spc="-10"/>
              <a:t>Process</a:t>
            </a:r>
          </a:p>
        </p:txBody>
      </p:sp>
      <p:sp>
        <p:nvSpPr>
          <p:cNvPr id="3" name="object 3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7526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380"/>
              </a:spcBef>
              <a:buFont typeface="Corbel"/>
              <a:buChar char="–"/>
              <a:tabLst>
                <a:tab pos="332740" algn="l"/>
              </a:tabLst>
            </a:pPr>
            <a:r>
              <a:rPr dirty="0" sz="2000"/>
              <a:t>Defining</a:t>
            </a:r>
            <a:r>
              <a:rPr dirty="0" sz="2000" spc="-55"/>
              <a:t> </a:t>
            </a:r>
            <a:r>
              <a:rPr dirty="0" sz="2000"/>
              <a:t>the</a:t>
            </a:r>
            <a:r>
              <a:rPr dirty="0" sz="2000" spc="-55"/>
              <a:t> </a:t>
            </a:r>
            <a:r>
              <a:rPr dirty="0" sz="2000" spc="-10"/>
              <a:t>problem</a:t>
            </a:r>
            <a:endParaRPr sz="2000"/>
          </a:p>
          <a:p>
            <a:pPr lvl="1" marL="652780" indent="-320040">
              <a:lnSpc>
                <a:spcPct val="100000"/>
              </a:lnSpc>
              <a:spcBef>
                <a:spcPts val="1165"/>
              </a:spcBef>
              <a:buFont typeface="Corbel"/>
              <a:buChar char="–"/>
              <a:tabLst>
                <a:tab pos="652780" algn="l"/>
              </a:tabLst>
            </a:pP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Identifying</a:t>
            </a:r>
            <a:r>
              <a:rPr dirty="0" sz="1800" spc="75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what</a:t>
            </a:r>
            <a:r>
              <a:rPr dirty="0" sz="1800" spc="75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it</a:t>
            </a:r>
            <a:r>
              <a:rPr dirty="0" sz="1800" spc="100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is</a:t>
            </a:r>
            <a:r>
              <a:rPr dirty="0" sz="1800" spc="75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you</a:t>
            </a:r>
            <a:r>
              <a:rPr dirty="0" sz="1800" spc="75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know</a:t>
            </a:r>
            <a:r>
              <a:rPr dirty="0" sz="1800" spc="90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5A4D5A"/>
                </a:solidFill>
                <a:latin typeface="Calibri"/>
                <a:cs typeface="Calibri"/>
              </a:rPr>
              <a:t>(input-</a:t>
            </a: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given</a:t>
            </a:r>
            <a:r>
              <a:rPr dirty="0" sz="1800" spc="90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data),</a:t>
            </a:r>
            <a:r>
              <a:rPr dirty="0" sz="1800" spc="90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and</a:t>
            </a:r>
            <a:r>
              <a:rPr dirty="0" sz="1800" spc="95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what</a:t>
            </a:r>
            <a:r>
              <a:rPr dirty="0" sz="1800" spc="105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it</a:t>
            </a:r>
            <a:r>
              <a:rPr dirty="0" sz="1800" spc="75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is</a:t>
            </a:r>
            <a:r>
              <a:rPr dirty="0" sz="1800" spc="95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you</a:t>
            </a:r>
            <a:r>
              <a:rPr dirty="0" sz="1800" spc="75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want</a:t>
            </a:r>
            <a:r>
              <a:rPr dirty="0" sz="1800" spc="80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to</a:t>
            </a:r>
            <a:r>
              <a:rPr dirty="0" sz="1800" spc="90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5A4D5A"/>
                </a:solidFill>
                <a:latin typeface="Calibri"/>
                <a:cs typeface="Calibri"/>
              </a:rPr>
              <a:t>obtain</a:t>
            </a:r>
            <a:endParaRPr sz="1800">
              <a:latin typeface="Calibri"/>
              <a:cs typeface="Calibri"/>
            </a:endParaRPr>
          </a:p>
          <a:p>
            <a:pPr marL="652780">
              <a:lnSpc>
                <a:spcPct val="100000"/>
              </a:lnSpc>
              <a:spcBef>
                <a:spcPts val="240"/>
              </a:spcBef>
            </a:pPr>
            <a:r>
              <a:rPr dirty="0" sz="1800" spc="-10"/>
              <a:t>(output-</a:t>
            </a:r>
            <a:r>
              <a:rPr dirty="0" sz="1800"/>
              <a:t>the</a:t>
            </a:r>
            <a:r>
              <a:rPr dirty="0" sz="1800" spc="10"/>
              <a:t> </a:t>
            </a:r>
            <a:r>
              <a:rPr dirty="0" sz="1800" spc="-10"/>
              <a:t>result).</a:t>
            </a:r>
            <a:endParaRPr sz="1800"/>
          </a:p>
          <a:p>
            <a:pPr lvl="1" marL="652780" indent="-320040">
              <a:lnSpc>
                <a:spcPct val="100000"/>
              </a:lnSpc>
              <a:spcBef>
                <a:spcPts val="1155"/>
              </a:spcBef>
              <a:buFont typeface="Corbel"/>
              <a:buChar char="–"/>
              <a:tabLst>
                <a:tab pos="652780" algn="l"/>
              </a:tabLst>
            </a:pPr>
            <a:r>
              <a:rPr dirty="0" sz="1800" spc="-10">
                <a:solidFill>
                  <a:srgbClr val="5A4D5A"/>
                </a:solidFill>
                <a:latin typeface="Calibri"/>
                <a:cs typeface="Calibri"/>
              </a:rPr>
              <a:t>Eventually,</a:t>
            </a:r>
            <a:r>
              <a:rPr dirty="0" sz="1800" spc="40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you</a:t>
            </a:r>
            <a:r>
              <a:rPr dirty="0" sz="1800" spc="50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produce</a:t>
            </a:r>
            <a:r>
              <a:rPr dirty="0" sz="1800" spc="35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a</a:t>
            </a:r>
            <a:r>
              <a:rPr dirty="0" sz="1800" spc="40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written</a:t>
            </a:r>
            <a:r>
              <a:rPr dirty="0" sz="1800" spc="30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agreement</a:t>
            </a:r>
            <a:r>
              <a:rPr dirty="0" sz="1800" spc="35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that,</a:t>
            </a:r>
            <a:r>
              <a:rPr dirty="0" sz="1800" spc="35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among</a:t>
            </a:r>
            <a:r>
              <a:rPr dirty="0" sz="1800" spc="55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other</a:t>
            </a:r>
            <a:r>
              <a:rPr dirty="0" sz="1800" spc="55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things,</a:t>
            </a:r>
            <a:r>
              <a:rPr dirty="0" sz="1800" spc="45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specifies</a:t>
            </a:r>
            <a:r>
              <a:rPr dirty="0" sz="1800" spc="20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 spc="-25">
                <a:solidFill>
                  <a:srgbClr val="5A4D5A"/>
                </a:solidFill>
                <a:latin typeface="Calibri"/>
                <a:cs typeface="Calibri"/>
              </a:rPr>
              <a:t>the</a:t>
            </a:r>
            <a:endParaRPr sz="1800">
              <a:latin typeface="Calibri"/>
              <a:cs typeface="Calibri"/>
            </a:endParaRPr>
          </a:p>
          <a:p>
            <a:pPr marL="652780">
              <a:lnSpc>
                <a:spcPct val="100000"/>
              </a:lnSpc>
              <a:spcBef>
                <a:spcPts val="240"/>
              </a:spcBef>
            </a:pPr>
            <a:r>
              <a:rPr dirty="0" sz="1800"/>
              <a:t>kind</a:t>
            </a:r>
            <a:r>
              <a:rPr dirty="0" sz="1800" spc="-50"/>
              <a:t> </a:t>
            </a:r>
            <a:r>
              <a:rPr dirty="0" sz="1800"/>
              <a:t>of</a:t>
            </a:r>
            <a:r>
              <a:rPr dirty="0" sz="1800" spc="-55"/>
              <a:t> </a:t>
            </a:r>
            <a:r>
              <a:rPr dirty="0" sz="1800"/>
              <a:t>input,</a:t>
            </a:r>
            <a:r>
              <a:rPr dirty="0" sz="1800" spc="-15"/>
              <a:t> </a:t>
            </a:r>
            <a:r>
              <a:rPr dirty="0" sz="1800"/>
              <a:t>processing,</a:t>
            </a:r>
            <a:r>
              <a:rPr dirty="0" sz="1800" spc="-5"/>
              <a:t> </a:t>
            </a:r>
            <a:r>
              <a:rPr dirty="0" sz="1800"/>
              <a:t>and</a:t>
            </a:r>
            <a:r>
              <a:rPr dirty="0" sz="1800" spc="-50"/>
              <a:t> </a:t>
            </a:r>
            <a:r>
              <a:rPr dirty="0" sz="1800"/>
              <a:t>output</a:t>
            </a:r>
            <a:r>
              <a:rPr dirty="0" sz="1800" spc="-35"/>
              <a:t> </a:t>
            </a:r>
            <a:r>
              <a:rPr dirty="0" sz="1800" spc="-10"/>
              <a:t>required.</a:t>
            </a:r>
            <a:endParaRPr sz="1800"/>
          </a:p>
          <a:p>
            <a:pPr lvl="1" marL="652780" indent="-320040">
              <a:lnSpc>
                <a:spcPct val="100000"/>
              </a:lnSpc>
              <a:spcBef>
                <a:spcPts val="1130"/>
              </a:spcBef>
              <a:buFont typeface="Corbel"/>
              <a:buChar char="–"/>
              <a:tabLst>
                <a:tab pos="652780" algn="l"/>
              </a:tabLst>
            </a:pP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This</a:t>
            </a:r>
            <a:r>
              <a:rPr dirty="0" sz="1800" spc="-15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is</a:t>
            </a:r>
            <a:r>
              <a:rPr dirty="0" sz="1800" spc="-30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not</a:t>
            </a:r>
            <a:r>
              <a:rPr dirty="0" sz="1800" spc="-30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a simple</a:t>
            </a:r>
            <a:r>
              <a:rPr dirty="0" sz="1800" spc="-10">
                <a:solidFill>
                  <a:srgbClr val="5A4D5A"/>
                </a:solidFill>
                <a:latin typeface="Calibri"/>
                <a:cs typeface="Calibri"/>
              </a:rPr>
              <a:t> process.</a:t>
            </a:r>
            <a:endParaRPr sz="1800">
              <a:latin typeface="Calibri"/>
              <a:cs typeface="Calibri"/>
            </a:endParaRPr>
          </a:p>
          <a:p>
            <a:pPr marL="332740" indent="-320040">
              <a:lnSpc>
                <a:spcPct val="100000"/>
              </a:lnSpc>
              <a:spcBef>
                <a:spcPts val="1145"/>
              </a:spcBef>
              <a:buFont typeface="Corbel"/>
              <a:buChar char="–"/>
              <a:tabLst>
                <a:tab pos="332740" algn="l"/>
              </a:tabLst>
            </a:pPr>
            <a:r>
              <a:rPr dirty="0" sz="2000"/>
              <a:t>Planning</a:t>
            </a:r>
            <a:r>
              <a:rPr dirty="0" sz="2000" spc="-50"/>
              <a:t> </a:t>
            </a:r>
            <a:r>
              <a:rPr dirty="0" sz="2000"/>
              <a:t>the</a:t>
            </a:r>
            <a:r>
              <a:rPr dirty="0" sz="2000" spc="-50"/>
              <a:t> </a:t>
            </a:r>
            <a:r>
              <a:rPr dirty="0" sz="2000" spc="-10"/>
              <a:t>solution</a:t>
            </a:r>
            <a:endParaRPr sz="2000"/>
          </a:p>
          <a:p>
            <a:pPr lvl="1" marL="652780" indent="-320040">
              <a:lnSpc>
                <a:spcPct val="100000"/>
              </a:lnSpc>
              <a:spcBef>
                <a:spcPts val="1160"/>
              </a:spcBef>
              <a:buFont typeface="Corbel"/>
              <a:buChar char="–"/>
              <a:tabLst>
                <a:tab pos="652780" algn="l"/>
              </a:tabLst>
            </a:pP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It</a:t>
            </a:r>
            <a:r>
              <a:rPr dirty="0" sz="1800" spc="-30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is</a:t>
            </a:r>
            <a:r>
              <a:rPr dirty="0" sz="1800" spc="-35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a</a:t>
            </a:r>
            <a:r>
              <a:rPr dirty="0" sz="1800" spc="-5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map</a:t>
            </a:r>
            <a:r>
              <a:rPr dirty="0" sz="1800" spc="-40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of</a:t>
            </a:r>
            <a:r>
              <a:rPr dirty="0" sz="1800" spc="-25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what</a:t>
            </a:r>
            <a:r>
              <a:rPr dirty="0" sz="1800" spc="-5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your</a:t>
            </a:r>
            <a:r>
              <a:rPr dirty="0" sz="1800" spc="-30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5A4D5A"/>
                </a:solidFill>
                <a:latin typeface="Calibri"/>
                <a:cs typeface="Calibri"/>
              </a:rPr>
              <a:t>program</a:t>
            </a:r>
            <a:r>
              <a:rPr dirty="0" sz="1800" spc="-5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is</a:t>
            </a:r>
            <a:r>
              <a:rPr dirty="0" sz="1800" spc="-35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going</a:t>
            </a:r>
            <a:r>
              <a:rPr dirty="0" sz="1800" spc="5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to</a:t>
            </a:r>
            <a:r>
              <a:rPr dirty="0" sz="1800" spc="-20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do and</a:t>
            </a:r>
            <a:r>
              <a:rPr dirty="0" sz="1800" spc="-15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how</a:t>
            </a:r>
            <a:r>
              <a:rPr dirty="0" sz="1800" spc="-25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it</a:t>
            </a:r>
            <a:r>
              <a:rPr dirty="0" sz="1800" spc="-25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is</a:t>
            </a:r>
            <a:r>
              <a:rPr dirty="0" sz="1800" spc="-15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going</a:t>
            </a:r>
            <a:r>
              <a:rPr dirty="0" sz="1800" spc="-15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to</a:t>
            </a:r>
            <a:r>
              <a:rPr dirty="0" sz="1800" spc="-20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do </a:t>
            </a:r>
            <a:r>
              <a:rPr dirty="0" sz="1800" spc="-25">
                <a:solidFill>
                  <a:srgbClr val="5A4D5A"/>
                </a:solidFill>
                <a:latin typeface="Calibri"/>
                <a:cs typeface="Calibri"/>
              </a:rPr>
              <a:t>it.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433705">
              <a:lnSpc>
                <a:spcPct val="100000"/>
              </a:lnSpc>
              <a:spcBef>
                <a:spcPts val="95"/>
              </a:spcBef>
            </a:pPr>
            <a:r>
              <a:rPr dirty="0"/>
              <a:t>The</a:t>
            </a:r>
            <a:r>
              <a:rPr dirty="0" spc="-195"/>
              <a:t> </a:t>
            </a:r>
            <a:r>
              <a:rPr dirty="0"/>
              <a:t>Programming</a:t>
            </a:r>
            <a:r>
              <a:rPr dirty="0" spc="-165"/>
              <a:t> </a:t>
            </a:r>
            <a:r>
              <a:rPr dirty="0" spc="-10"/>
              <a:t>Process</a:t>
            </a:r>
          </a:p>
        </p:txBody>
      </p:sp>
      <p:sp>
        <p:nvSpPr>
          <p:cNvPr id="3" name="object 3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14935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905"/>
              </a:spcBef>
              <a:buFont typeface="Corbel"/>
              <a:buChar char="–"/>
              <a:tabLst>
                <a:tab pos="332740" algn="l"/>
              </a:tabLst>
            </a:pPr>
            <a:r>
              <a:rPr dirty="0" sz="1900"/>
              <a:t>Coding</a:t>
            </a:r>
            <a:r>
              <a:rPr dirty="0" sz="1900" spc="-50"/>
              <a:t> </a:t>
            </a:r>
            <a:r>
              <a:rPr dirty="0" sz="1900"/>
              <a:t>the</a:t>
            </a:r>
            <a:r>
              <a:rPr dirty="0" sz="1900" spc="-50"/>
              <a:t> </a:t>
            </a:r>
            <a:r>
              <a:rPr dirty="0" sz="1900" spc="-10"/>
              <a:t>program</a:t>
            </a:r>
            <a:endParaRPr sz="1900"/>
          </a:p>
          <a:p>
            <a:pPr lvl="1" marL="652780" marR="8890" indent="-320040">
              <a:lnSpc>
                <a:spcPts val="1850"/>
              </a:lnSpc>
              <a:spcBef>
                <a:spcPts val="950"/>
              </a:spcBef>
              <a:buFont typeface="Corbel"/>
              <a:buChar char="–"/>
              <a:tabLst>
                <a:tab pos="652780" algn="l"/>
              </a:tabLst>
            </a:pPr>
            <a:r>
              <a:rPr dirty="0" sz="1700">
                <a:solidFill>
                  <a:srgbClr val="5A4D5A"/>
                </a:solidFill>
                <a:latin typeface="Calibri"/>
                <a:cs typeface="Calibri"/>
              </a:rPr>
              <a:t>You</a:t>
            </a:r>
            <a:r>
              <a:rPr dirty="0" sz="1700" spc="235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5A4D5A"/>
                </a:solidFill>
                <a:latin typeface="Calibri"/>
                <a:cs typeface="Calibri"/>
              </a:rPr>
              <a:t>will</a:t>
            </a:r>
            <a:r>
              <a:rPr dirty="0" sz="1700" spc="245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5A4D5A"/>
                </a:solidFill>
                <a:latin typeface="Calibri"/>
                <a:cs typeface="Calibri"/>
              </a:rPr>
              <a:t>translate</a:t>
            </a:r>
            <a:r>
              <a:rPr dirty="0" sz="1700" spc="245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5A4D5A"/>
                </a:solidFill>
                <a:latin typeface="Calibri"/>
                <a:cs typeface="Calibri"/>
              </a:rPr>
              <a:t>the</a:t>
            </a:r>
            <a:r>
              <a:rPr dirty="0" sz="1700" spc="240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5A4D5A"/>
                </a:solidFill>
                <a:latin typeface="Calibri"/>
                <a:cs typeface="Calibri"/>
              </a:rPr>
              <a:t>logic</a:t>
            </a:r>
            <a:r>
              <a:rPr dirty="0" sz="1700" spc="250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5A4D5A"/>
                </a:solidFill>
                <a:latin typeface="Calibri"/>
                <a:cs typeface="Calibri"/>
              </a:rPr>
              <a:t>from</a:t>
            </a:r>
            <a:r>
              <a:rPr dirty="0" sz="1700" spc="254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5A4D5A"/>
                </a:solidFill>
                <a:latin typeface="Calibri"/>
                <a:cs typeface="Calibri"/>
              </a:rPr>
              <a:t>the</a:t>
            </a:r>
            <a:r>
              <a:rPr dirty="0" sz="1700" spc="235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5A4D5A"/>
                </a:solidFill>
                <a:latin typeface="Calibri"/>
                <a:cs typeface="Calibri"/>
              </a:rPr>
              <a:t>flowchart</a:t>
            </a:r>
            <a:r>
              <a:rPr dirty="0" sz="1700" spc="260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5A4D5A"/>
                </a:solidFill>
                <a:latin typeface="Calibri"/>
                <a:cs typeface="Calibri"/>
              </a:rPr>
              <a:t>or</a:t>
            </a:r>
            <a:r>
              <a:rPr dirty="0" sz="1700" spc="250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700" spc="-10">
                <a:solidFill>
                  <a:srgbClr val="5A4D5A"/>
                </a:solidFill>
                <a:latin typeface="Calibri"/>
                <a:cs typeface="Calibri"/>
              </a:rPr>
              <a:t>pseudocode-</a:t>
            </a:r>
            <a:r>
              <a:rPr dirty="0" sz="1700">
                <a:solidFill>
                  <a:srgbClr val="5A4D5A"/>
                </a:solidFill>
                <a:latin typeface="Calibri"/>
                <a:cs typeface="Calibri"/>
              </a:rPr>
              <a:t>or</a:t>
            </a:r>
            <a:r>
              <a:rPr dirty="0" sz="1700" spc="250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5A4D5A"/>
                </a:solidFill>
                <a:latin typeface="Calibri"/>
                <a:cs typeface="Calibri"/>
              </a:rPr>
              <a:t>some</a:t>
            </a:r>
            <a:r>
              <a:rPr dirty="0" sz="1700" spc="245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5A4D5A"/>
                </a:solidFill>
                <a:latin typeface="Calibri"/>
                <a:cs typeface="Calibri"/>
              </a:rPr>
              <a:t>other</a:t>
            </a:r>
            <a:r>
              <a:rPr dirty="0" sz="1700" spc="254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700" spc="-10">
                <a:solidFill>
                  <a:srgbClr val="5A4D5A"/>
                </a:solidFill>
                <a:latin typeface="Calibri"/>
                <a:cs typeface="Calibri"/>
              </a:rPr>
              <a:t>tool-</a:t>
            </a:r>
            <a:r>
              <a:rPr dirty="0" sz="1700">
                <a:solidFill>
                  <a:srgbClr val="5A4D5A"/>
                </a:solidFill>
                <a:latin typeface="Calibri"/>
                <a:cs typeface="Calibri"/>
              </a:rPr>
              <a:t>to</a:t>
            </a:r>
            <a:r>
              <a:rPr dirty="0" sz="1700" spc="254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700" spc="-50">
                <a:solidFill>
                  <a:srgbClr val="5A4D5A"/>
                </a:solidFill>
                <a:latin typeface="Calibri"/>
                <a:cs typeface="Calibri"/>
              </a:rPr>
              <a:t>a </a:t>
            </a:r>
            <a:r>
              <a:rPr dirty="0" sz="1700" spc="-10">
                <a:solidFill>
                  <a:srgbClr val="5A4D5A"/>
                </a:solidFill>
                <a:latin typeface="Calibri"/>
                <a:cs typeface="Calibri"/>
              </a:rPr>
              <a:t>programming</a:t>
            </a:r>
            <a:r>
              <a:rPr dirty="0" sz="1700" spc="-20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700" spc="-10">
                <a:solidFill>
                  <a:srgbClr val="5A4D5A"/>
                </a:solidFill>
                <a:latin typeface="Calibri"/>
                <a:cs typeface="Calibri"/>
              </a:rPr>
              <a:t>language.</a:t>
            </a:r>
            <a:endParaRPr sz="1700">
              <a:latin typeface="Calibri"/>
              <a:cs typeface="Calibri"/>
            </a:endParaRPr>
          </a:p>
          <a:p>
            <a:pPr lvl="1" marL="652780" indent="-320040">
              <a:lnSpc>
                <a:spcPts val="1945"/>
              </a:lnSpc>
              <a:spcBef>
                <a:spcPts val="685"/>
              </a:spcBef>
              <a:buFont typeface="Corbel"/>
              <a:buChar char="–"/>
              <a:tabLst>
                <a:tab pos="652780" algn="l"/>
              </a:tabLst>
            </a:pPr>
            <a:r>
              <a:rPr dirty="0" sz="1700">
                <a:solidFill>
                  <a:srgbClr val="5A4D5A"/>
                </a:solidFill>
                <a:latin typeface="Calibri"/>
                <a:cs typeface="Calibri"/>
              </a:rPr>
              <a:t>As</a:t>
            </a:r>
            <a:r>
              <a:rPr dirty="0" sz="1700" spc="5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5A4D5A"/>
                </a:solidFill>
                <a:latin typeface="Calibri"/>
                <a:cs typeface="Calibri"/>
              </a:rPr>
              <a:t>we have</a:t>
            </a:r>
            <a:r>
              <a:rPr dirty="0" sz="1700" spc="-10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5A4D5A"/>
                </a:solidFill>
                <a:latin typeface="Calibri"/>
                <a:cs typeface="Calibri"/>
              </a:rPr>
              <a:t>already noted,</a:t>
            </a:r>
            <a:r>
              <a:rPr dirty="0" sz="1700" spc="15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5A4D5A"/>
                </a:solidFill>
                <a:latin typeface="Calibri"/>
                <a:cs typeface="Calibri"/>
              </a:rPr>
              <a:t>a</a:t>
            </a:r>
            <a:r>
              <a:rPr dirty="0" sz="1700" spc="5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5A4D5A"/>
                </a:solidFill>
                <a:latin typeface="Calibri"/>
                <a:cs typeface="Calibri"/>
              </a:rPr>
              <a:t>programming language is</a:t>
            </a:r>
            <a:r>
              <a:rPr dirty="0" sz="1700" spc="10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5A4D5A"/>
                </a:solidFill>
                <a:latin typeface="Calibri"/>
                <a:cs typeface="Calibri"/>
              </a:rPr>
              <a:t>a</a:t>
            </a:r>
            <a:r>
              <a:rPr dirty="0" sz="1700" spc="5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5A4D5A"/>
                </a:solidFill>
                <a:latin typeface="Calibri"/>
                <a:cs typeface="Calibri"/>
              </a:rPr>
              <a:t>set</a:t>
            </a:r>
            <a:r>
              <a:rPr dirty="0" sz="1700" spc="5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5A4D5A"/>
                </a:solidFill>
                <a:latin typeface="Calibri"/>
                <a:cs typeface="Calibri"/>
              </a:rPr>
              <a:t>of</a:t>
            </a:r>
            <a:r>
              <a:rPr dirty="0" sz="1700" spc="-10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5A4D5A"/>
                </a:solidFill>
                <a:latin typeface="Calibri"/>
                <a:cs typeface="Calibri"/>
              </a:rPr>
              <a:t>rules</a:t>
            </a:r>
            <a:r>
              <a:rPr dirty="0" sz="1700" spc="5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5A4D5A"/>
                </a:solidFill>
                <a:latin typeface="Calibri"/>
                <a:cs typeface="Calibri"/>
              </a:rPr>
              <a:t>that</a:t>
            </a:r>
            <a:r>
              <a:rPr dirty="0" sz="1700" spc="10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5A4D5A"/>
                </a:solidFill>
                <a:latin typeface="Calibri"/>
                <a:cs typeface="Calibri"/>
              </a:rPr>
              <a:t>provides</a:t>
            </a:r>
            <a:r>
              <a:rPr dirty="0" sz="1700" spc="15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5A4D5A"/>
                </a:solidFill>
                <a:latin typeface="Calibri"/>
                <a:cs typeface="Calibri"/>
              </a:rPr>
              <a:t>a</a:t>
            </a:r>
            <a:r>
              <a:rPr dirty="0" sz="1700" spc="-15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5A4D5A"/>
                </a:solidFill>
                <a:latin typeface="Calibri"/>
                <a:cs typeface="Calibri"/>
              </a:rPr>
              <a:t>way </a:t>
            </a:r>
            <a:r>
              <a:rPr dirty="0" sz="1700" spc="-25">
                <a:solidFill>
                  <a:srgbClr val="5A4D5A"/>
                </a:solidFill>
                <a:latin typeface="Calibri"/>
                <a:cs typeface="Calibri"/>
              </a:rPr>
              <a:t>of</a:t>
            </a:r>
            <a:endParaRPr sz="1700">
              <a:latin typeface="Calibri"/>
              <a:cs typeface="Calibri"/>
            </a:endParaRPr>
          </a:p>
          <a:p>
            <a:pPr marL="652780">
              <a:lnSpc>
                <a:spcPts val="1945"/>
              </a:lnSpc>
            </a:pPr>
            <a:r>
              <a:rPr dirty="0" sz="1700"/>
              <a:t>instructing</a:t>
            </a:r>
            <a:r>
              <a:rPr dirty="0" sz="1700" spc="-45"/>
              <a:t> </a:t>
            </a:r>
            <a:r>
              <a:rPr dirty="0" sz="1700"/>
              <a:t>the</a:t>
            </a:r>
            <a:r>
              <a:rPr dirty="0" sz="1700" spc="-30"/>
              <a:t> </a:t>
            </a:r>
            <a:r>
              <a:rPr dirty="0" sz="1700" spc="-10"/>
              <a:t>computer</a:t>
            </a:r>
            <a:r>
              <a:rPr dirty="0" sz="1700" spc="-20"/>
              <a:t> </a:t>
            </a:r>
            <a:r>
              <a:rPr dirty="0" sz="1700"/>
              <a:t>what</a:t>
            </a:r>
            <a:r>
              <a:rPr dirty="0" sz="1700" spc="-35"/>
              <a:t> </a:t>
            </a:r>
            <a:r>
              <a:rPr dirty="0" sz="1700" spc="-10"/>
              <a:t>operations</a:t>
            </a:r>
            <a:r>
              <a:rPr dirty="0" sz="1700" spc="-35"/>
              <a:t> </a:t>
            </a:r>
            <a:r>
              <a:rPr dirty="0" sz="1700"/>
              <a:t>to</a:t>
            </a:r>
            <a:r>
              <a:rPr dirty="0" sz="1700" spc="-35"/>
              <a:t> </a:t>
            </a:r>
            <a:r>
              <a:rPr dirty="0" sz="1700" spc="-10"/>
              <a:t>perform.</a:t>
            </a:r>
            <a:endParaRPr sz="1700"/>
          </a:p>
          <a:p>
            <a:pPr marL="332740" indent="-320040">
              <a:lnSpc>
                <a:spcPct val="100000"/>
              </a:lnSpc>
              <a:spcBef>
                <a:spcPts val="690"/>
              </a:spcBef>
              <a:buFont typeface="Corbel"/>
              <a:buChar char="–"/>
              <a:tabLst>
                <a:tab pos="332740" algn="l"/>
              </a:tabLst>
            </a:pPr>
            <a:r>
              <a:rPr dirty="0" sz="1900" spc="-25"/>
              <a:t>Testing</a:t>
            </a:r>
            <a:r>
              <a:rPr dirty="0" sz="1900" spc="-45"/>
              <a:t> </a:t>
            </a:r>
            <a:r>
              <a:rPr dirty="0" sz="1900"/>
              <a:t>the</a:t>
            </a:r>
            <a:r>
              <a:rPr dirty="0" sz="1900" spc="-65"/>
              <a:t> </a:t>
            </a:r>
            <a:r>
              <a:rPr dirty="0" sz="1900" spc="-10"/>
              <a:t>program</a:t>
            </a:r>
            <a:endParaRPr sz="1900"/>
          </a:p>
          <a:p>
            <a:pPr lvl="1" marL="652780" indent="-320040">
              <a:lnSpc>
                <a:spcPts val="1945"/>
              </a:lnSpc>
              <a:spcBef>
                <a:spcPts val="730"/>
              </a:spcBef>
              <a:buFont typeface="Corbel"/>
              <a:buChar char="–"/>
              <a:tabLst>
                <a:tab pos="652780" algn="l"/>
              </a:tabLst>
            </a:pPr>
            <a:r>
              <a:rPr dirty="0" sz="1700">
                <a:solidFill>
                  <a:srgbClr val="5A4D5A"/>
                </a:solidFill>
                <a:latin typeface="Calibri"/>
                <a:cs typeface="Calibri"/>
              </a:rPr>
              <a:t>Program</a:t>
            </a:r>
            <a:r>
              <a:rPr dirty="0" sz="1700" spc="150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5A4D5A"/>
                </a:solidFill>
                <a:latin typeface="Calibri"/>
                <a:cs typeface="Calibri"/>
              </a:rPr>
              <a:t>may</a:t>
            </a:r>
            <a:r>
              <a:rPr dirty="0" sz="1700" spc="140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5A4D5A"/>
                </a:solidFill>
                <a:latin typeface="Calibri"/>
                <a:cs typeface="Calibri"/>
              </a:rPr>
              <a:t>have</a:t>
            </a:r>
            <a:r>
              <a:rPr dirty="0" sz="1700" spc="135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5A4D5A"/>
                </a:solidFill>
                <a:latin typeface="Calibri"/>
                <a:cs typeface="Calibri"/>
              </a:rPr>
              <a:t>some</a:t>
            </a:r>
            <a:r>
              <a:rPr dirty="0" sz="1700" spc="145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5A4D5A"/>
                </a:solidFill>
                <a:latin typeface="Calibri"/>
                <a:cs typeface="Calibri"/>
              </a:rPr>
              <a:t>imperfections</a:t>
            </a:r>
            <a:r>
              <a:rPr dirty="0" sz="1700" spc="155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5A4D5A"/>
                </a:solidFill>
                <a:latin typeface="Calibri"/>
                <a:cs typeface="Calibri"/>
              </a:rPr>
              <a:t>for</a:t>
            </a:r>
            <a:r>
              <a:rPr dirty="0" sz="1700" spc="150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5A4D5A"/>
                </a:solidFill>
                <a:latin typeface="Calibri"/>
                <a:cs typeface="Calibri"/>
              </a:rPr>
              <a:t>the</a:t>
            </a:r>
            <a:r>
              <a:rPr dirty="0" sz="1700" spc="140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5A4D5A"/>
                </a:solidFill>
                <a:latin typeface="Calibri"/>
                <a:cs typeface="Calibri"/>
              </a:rPr>
              <a:t>new</a:t>
            </a:r>
            <a:r>
              <a:rPr dirty="0" sz="1700" spc="145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5A4D5A"/>
                </a:solidFill>
                <a:latin typeface="Calibri"/>
                <a:cs typeface="Calibri"/>
              </a:rPr>
              <a:t>programmers.</a:t>
            </a:r>
            <a:r>
              <a:rPr dirty="0" sz="1700" spc="125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5A4D5A"/>
                </a:solidFill>
                <a:latin typeface="Calibri"/>
                <a:cs typeface="Calibri"/>
              </a:rPr>
              <a:t>So,</a:t>
            </a:r>
            <a:r>
              <a:rPr dirty="0" sz="1700" spc="145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5A4D5A"/>
                </a:solidFill>
                <a:latin typeface="Calibri"/>
                <a:cs typeface="Calibri"/>
              </a:rPr>
              <a:t>the</a:t>
            </a:r>
            <a:r>
              <a:rPr dirty="0" sz="1700" spc="140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700" spc="-10">
                <a:solidFill>
                  <a:srgbClr val="5A4D5A"/>
                </a:solidFill>
                <a:latin typeface="Calibri"/>
                <a:cs typeface="Calibri"/>
              </a:rPr>
              <a:t>programmers</a:t>
            </a:r>
            <a:endParaRPr sz="1700">
              <a:latin typeface="Calibri"/>
              <a:cs typeface="Calibri"/>
            </a:endParaRPr>
          </a:p>
          <a:p>
            <a:pPr marL="652780">
              <a:lnSpc>
                <a:spcPts val="1945"/>
              </a:lnSpc>
            </a:pPr>
            <a:r>
              <a:rPr dirty="0" sz="1700"/>
              <a:t>use</a:t>
            </a:r>
            <a:r>
              <a:rPr dirty="0" sz="1700" spc="-60"/>
              <a:t> </a:t>
            </a:r>
            <a:r>
              <a:rPr dirty="0" sz="1700"/>
              <a:t>following</a:t>
            </a:r>
            <a:r>
              <a:rPr dirty="0" sz="1700" spc="-45"/>
              <a:t> </a:t>
            </a:r>
            <a:r>
              <a:rPr dirty="0" sz="1700"/>
              <a:t>steps</a:t>
            </a:r>
            <a:r>
              <a:rPr dirty="0" sz="1700" spc="-70"/>
              <a:t> </a:t>
            </a:r>
            <a:r>
              <a:rPr dirty="0" sz="1700"/>
              <a:t>to</a:t>
            </a:r>
            <a:r>
              <a:rPr dirty="0" sz="1700" spc="-50"/>
              <a:t> </a:t>
            </a:r>
            <a:r>
              <a:rPr dirty="0" sz="1700"/>
              <a:t>over</a:t>
            </a:r>
            <a:r>
              <a:rPr dirty="0" sz="1700" spc="-35"/>
              <a:t> </a:t>
            </a:r>
            <a:r>
              <a:rPr dirty="0" sz="1700" spc="-20"/>
              <a:t>come.</a:t>
            </a:r>
            <a:endParaRPr sz="1700"/>
          </a:p>
          <a:p>
            <a:pPr lvl="2" marL="972819" indent="-320040">
              <a:lnSpc>
                <a:spcPct val="100000"/>
              </a:lnSpc>
              <a:spcBef>
                <a:spcPts val="755"/>
              </a:spcBef>
              <a:buFont typeface="Corbel"/>
              <a:buChar char="–"/>
              <a:tabLst>
                <a:tab pos="972819" algn="l"/>
              </a:tabLst>
            </a:pPr>
            <a:r>
              <a:rPr dirty="0" sz="1500" spc="-10" i="1">
                <a:solidFill>
                  <a:srgbClr val="5A4D5A"/>
                </a:solidFill>
                <a:latin typeface="Calibri"/>
                <a:cs typeface="Calibri"/>
              </a:rPr>
              <a:t>Desk-Checking</a:t>
            </a:r>
            <a:endParaRPr sz="1500">
              <a:latin typeface="Calibri"/>
              <a:cs typeface="Calibri"/>
            </a:endParaRPr>
          </a:p>
          <a:p>
            <a:pPr lvl="2" marL="972819" indent="-320040">
              <a:lnSpc>
                <a:spcPct val="100000"/>
              </a:lnSpc>
              <a:spcBef>
                <a:spcPts val="745"/>
              </a:spcBef>
              <a:buFont typeface="Corbel"/>
              <a:buChar char="–"/>
              <a:tabLst>
                <a:tab pos="972819" algn="l"/>
              </a:tabLst>
            </a:pPr>
            <a:r>
              <a:rPr dirty="0" sz="1500" spc="-10" i="1">
                <a:solidFill>
                  <a:srgbClr val="5A4D5A"/>
                </a:solidFill>
                <a:latin typeface="Calibri"/>
                <a:cs typeface="Calibri"/>
              </a:rPr>
              <a:t>Translating</a:t>
            </a:r>
            <a:endParaRPr sz="1500">
              <a:latin typeface="Calibri"/>
              <a:cs typeface="Calibri"/>
            </a:endParaRPr>
          </a:p>
          <a:p>
            <a:pPr lvl="2" marL="972819" indent="-320040">
              <a:lnSpc>
                <a:spcPct val="100000"/>
              </a:lnSpc>
              <a:spcBef>
                <a:spcPts val="745"/>
              </a:spcBef>
              <a:buFont typeface="Corbel"/>
              <a:buChar char="–"/>
              <a:tabLst>
                <a:tab pos="972819" algn="l"/>
              </a:tabLst>
            </a:pPr>
            <a:r>
              <a:rPr dirty="0" sz="1500" spc="-10" i="1">
                <a:solidFill>
                  <a:srgbClr val="5A4D5A"/>
                </a:solidFill>
                <a:latin typeface="Calibri"/>
                <a:cs typeface="Calibri"/>
              </a:rPr>
              <a:t>Debugging</a:t>
            </a:r>
            <a:endParaRPr sz="15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433705">
              <a:lnSpc>
                <a:spcPct val="100000"/>
              </a:lnSpc>
              <a:spcBef>
                <a:spcPts val="95"/>
              </a:spcBef>
            </a:pPr>
            <a:r>
              <a:rPr dirty="0"/>
              <a:t>The</a:t>
            </a:r>
            <a:r>
              <a:rPr dirty="0" spc="-195"/>
              <a:t> </a:t>
            </a:r>
            <a:r>
              <a:rPr dirty="0"/>
              <a:t>Programming</a:t>
            </a:r>
            <a:r>
              <a:rPr dirty="0" spc="-165"/>
              <a:t> </a:t>
            </a:r>
            <a:r>
              <a:rPr dirty="0" spc="-10"/>
              <a:t>Process</a:t>
            </a:r>
          </a:p>
        </p:txBody>
      </p:sp>
      <p:sp>
        <p:nvSpPr>
          <p:cNvPr id="3" name="object 3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7526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380"/>
              </a:spcBef>
              <a:buFont typeface="Corbel"/>
              <a:buChar char="–"/>
              <a:tabLst>
                <a:tab pos="332740" algn="l"/>
              </a:tabLst>
            </a:pPr>
            <a:r>
              <a:rPr dirty="0" sz="2000" spc="-10"/>
              <a:t>Documenting</a:t>
            </a:r>
            <a:r>
              <a:rPr dirty="0" sz="2000" spc="-20"/>
              <a:t> </a:t>
            </a:r>
            <a:r>
              <a:rPr dirty="0" sz="2000"/>
              <a:t>the</a:t>
            </a:r>
            <a:r>
              <a:rPr dirty="0" sz="2000" spc="-20"/>
              <a:t> </a:t>
            </a:r>
            <a:r>
              <a:rPr dirty="0" sz="2000" spc="-10"/>
              <a:t>program</a:t>
            </a:r>
            <a:endParaRPr sz="2000"/>
          </a:p>
          <a:p>
            <a:pPr lvl="1" marL="652780" indent="-320040">
              <a:lnSpc>
                <a:spcPct val="100000"/>
              </a:lnSpc>
              <a:spcBef>
                <a:spcPts val="1165"/>
              </a:spcBef>
              <a:buFont typeface="Corbel"/>
              <a:buChar char="–"/>
              <a:tabLst>
                <a:tab pos="652780" algn="l"/>
              </a:tabLst>
            </a:pP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Documenting</a:t>
            </a:r>
            <a:r>
              <a:rPr dirty="0" sz="1800" spc="30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is</a:t>
            </a:r>
            <a:r>
              <a:rPr dirty="0" sz="1800" spc="10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an</a:t>
            </a:r>
            <a:r>
              <a:rPr dirty="0" sz="1800" spc="5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ongoing,</a:t>
            </a:r>
            <a:r>
              <a:rPr dirty="0" sz="1800" spc="35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necessary</a:t>
            </a:r>
            <a:r>
              <a:rPr dirty="0" sz="1800" spc="35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process,</a:t>
            </a:r>
            <a:r>
              <a:rPr dirty="0" sz="1800" spc="45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although,</a:t>
            </a:r>
            <a:r>
              <a:rPr dirty="0" sz="1800" spc="45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as</a:t>
            </a:r>
            <a:r>
              <a:rPr dirty="0" sz="1800" spc="30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many</a:t>
            </a:r>
            <a:r>
              <a:rPr dirty="0" sz="1800" spc="20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programmers</a:t>
            </a:r>
            <a:r>
              <a:rPr dirty="0" sz="1800" spc="10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 spc="-20">
                <a:solidFill>
                  <a:srgbClr val="5A4D5A"/>
                </a:solidFill>
                <a:latin typeface="Calibri"/>
                <a:cs typeface="Calibri"/>
              </a:rPr>
              <a:t>are,</a:t>
            </a:r>
            <a:endParaRPr sz="1800">
              <a:latin typeface="Calibri"/>
              <a:cs typeface="Calibri"/>
            </a:endParaRPr>
          </a:p>
          <a:p>
            <a:pPr marL="652780">
              <a:lnSpc>
                <a:spcPct val="100000"/>
              </a:lnSpc>
              <a:spcBef>
                <a:spcPts val="240"/>
              </a:spcBef>
            </a:pPr>
            <a:r>
              <a:rPr dirty="0" sz="1800"/>
              <a:t>you</a:t>
            </a:r>
            <a:r>
              <a:rPr dirty="0" sz="1800" spc="-65"/>
              <a:t> </a:t>
            </a:r>
            <a:r>
              <a:rPr dirty="0" sz="1800"/>
              <a:t>may</a:t>
            </a:r>
            <a:r>
              <a:rPr dirty="0" sz="1800" spc="-50"/>
              <a:t> </a:t>
            </a:r>
            <a:r>
              <a:rPr dirty="0" sz="1800"/>
              <a:t>be</a:t>
            </a:r>
            <a:r>
              <a:rPr dirty="0" sz="1800" spc="-45"/>
              <a:t> </a:t>
            </a:r>
            <a:r>
              <a:rPr dirty="0" sz="1800"/>
              <a:t>eager</a:t>
            </a:r>
            <a:r>
              <a:rPr dirty="0" sz="1800" spc="-20"/>
              <a:t> </a:t>
            </a:r>
            <a:r>
              <a:rPr dirty="0" sz="1800"/>
              <a:t>to</a:t>
            </a:r>
            <a:r>
              <a:rPr dirty="0" sz="1800" spc="-40"/>
              <a:t> </a:t>
            </a:r>
            <a:r>
              <a:rPr dirty="0" sz="1800"/>
              <a:t>pursue</a:t>
            </a:r>
            <a:r>
              <a:rPr dirty="0" sz="1800" spc="-20"/>
              <a:t> </a:t>
            </a:r>
            <a:r>
              <a:rPr dirty="0" sz="1800"/>
              <a:t>more</a:t>
            </a:r>
            <a:r>
              <a:rPr dirty="0" sz="1800" spc="-35"/>
              <a:t> </a:t>
            </a:r>
            <a:r>
              <a:rPr dirty="0" sz="1800" spc="-10"/>
              <a:t>exciting</a:t>
            </a:r>
            <a:r>
              <a:rPr dirty="0" sz="1800" spc="-15"/>
              <a:t> </a:t>
            </a:r>
            <a:r>
              <a:rPr dirty="0" sz="1800" spc="-25"/>
              <a:t>computer-</a:t>
            </a:r>
            <a:r>
              <a:rPr dirty="0" sz="1800"/>
              <a:t>centred</a:t>
            </a:r>
            <a:r>
              <a:rPr dirty="0" sz="1800" spc="25"/>
              <a:t> </a:t>
            </a:r>
            <a:r>
              <a:rPr dirty="0" sz="1800" spc="-10"/>
              <a:t>activities.</a:t>
            </a:r>
            <a:endParaRPr sz="1800"/>
          </a:p>
          <a:p>
            <a:pPr algn="just" lvl="1" marL="653415" indent="-320675">
              <a:lnSpc>
                <a:spcPct val="100000"/>
              </a:lnSpc>
              <a:spcBef>
                <a:spcPts val="1155"/>
              </a:spcBef>
              <a:buFont typeface="Corbel"/>
              <a:buChar char="–"/>
              <a:tabLst>
                <a:tab pos="653415" algn="l"/>
              </a:tabLst>
            </a:pP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Documentation</a:t>
            </a:r>
            <a:r>
              <a:rPr dirty="0" sz="1800" spc="475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is</a:t>
            </a:r>
            <a:r>
              <a:rPr dirty="0" sz="1800" spc="475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a</a:t>
            </a:r>
            <a:r>
              <a:rPr dirty="0" sz="1800" spc="465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written</a:t>
            </a:r>
            <a:r>
              <a:rPr dirty="0" sz="1800" spc="495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detailed</a:t>
            </a:r>
            <a:r>
              <a:rPr dirty="0" sz="1800" spc="40">
                <a:solidFill>
                  <a:srgbClr val="5A4D5A"/>
                </a:solidFill>
                <a:latin typeface="Calibri"/>
                <a:cs typeface="Calibri"/>
              </a:rPr>
              <a:t>  </a:t>
            </a: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description</a:t>
            </a:r>
            <a:r>
              <a:rPr dirty="0" sz="1800" spc="484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of</a:t>
            </a:r>
            <a:r>
              <a:rPr dirty="0" sz="1800" spc="459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the</a:t>
            </a:r>
            <a:r>
              <a:rPr dirty="0" sz="1800" spc="480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programming</a:t>
            </a:r>
            <a:r>
              <a:rPr dirty="0" sz="1800" spc="484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cycle</a:t>
            </a:r>
            <a:r>
              <a:rPr dirty="0" sz="1800" spc="455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 spc="-25">
                <a:solidFill>
                  <a:srgbClr val="5A4D5A"/>
                </a:solidFill>
                <a:latin typeface="Calibri"/>
                <a:cs typeface="Calibri"/>
              </a:rPr>
              <a:t>and</a:t>
            </a:r>
            <a:endParaRPr sz="1800">
              <a:latin typeface="Calibri"/>
              <a:cs typeface="Calibri"/>
            </a:endParaRPr>
          </a:p>
          <a:p>
            <a:pPr algn="just" marL="652780">
              <a:lnSpc>
                <a:spcPct val="100000"/>
              </a:lnSpc>
              <a:spcBef>
                <a:spcPts val="240"/>
              </a:spcBef>
            </a:pPr>
            <a:r>
              <a:rPr dirty="0" sz="1800"/>
              <a:t>specific</a:t>
            </a:r>
            <a:r>
              <a:rPr dirty="0" sz="1800" spc="-20"/>
              <a:t> </a:t>
            </a:r>
            <a:r>
              <a:rPr dirty="0" sz="1800"/>
              <a:t>facts</a:t>
            </a:r>
            <a:r>
              <a:rPr dirty="0" sz="1800" spc="-55"/>
              <a:t> </a:t>
            </a:r>
            <a:r>
              <a:rPr dirty="0" sz="1800"/>
              <a:t>about</a:t>
            </a:r>
            <a:r>
              <a:rPr dirty="0" sz="1800" spc="-25"/>
              <a:t> </a:t>
            </a:r>
            <a:r>
              <a:rPr dirty="0" sz="1800"/>
              <a:t>the</a:t>
            </a:r>
            <a:r>
              <a:rPr dirty="0" sz="1800" spc="-30"/>
              <a:t> </a:t>
            </a:r>
            <a:r>
              <a:rPr dirty="0" sz="1800" spc="-10"/>
              <a:t>program.</a:t>
            </a:r>
            <a:endParaRPr sz="1800"/>
          </a:p>
          <a:p>
            <a:pPr algn="just" lvl="1" marL="652780" marR="5080" indent="-320040">
              <a:lnSpc>
                <a:spcPct val="111200"/>
              </a:lnSpc>
              <a:spcBef>
                <a:spcPts val="885"/>
              </a:spcBef>
              <a:buFont typeface="Corbel"/>
              <a:buChar char="–"/>
              <a:tabLst>
                <a:tab pos="652780" algn="l"/>
              </a:tabLst>
            </a:pP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Typical</a:t>
            </a:r>
            <a:r>
              <a:rPr dirty="0" sz="1800" spc="45">
                <a:solidFill>
                  <a:srgbClr val="5A4D5A"/>
                </a:solidFill>
                <a:latin typeface="Calibri"/>
                <a:cs typeface="Calibri"/>
              </a:rPr>
              <a:t>  </a:t>
            </a: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program</a:t>
            </a:r>
            <a:r>
              <a:rPr dirty="0" sz="1800" spc="50">
                <a:solidFill>
                  <a:srgbClr val="5A4D5A"/>
                </a:solidFill>
                <a:latin typeface="Calibri"/>
                <a:cs typeface="Calibri"/>
              </a:rPr>
              <a:t>  </a:t>
            </a: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documentation</a:t>
            </a:r>
            <a:r>
              <a:rPr dirty="0" sz="1800" spc="60">
                <a:solidFill>
                  <a:srgbClr val="5A4D5A"/>
                </a:solidFill>
                <a:latin typeface="Calibri"/>
                <a:cs typeface="Calibri"/>
              </a:rPr>
              <a:t>  </a:t>
            </a: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materials</a:t>
            </a:r>
            <a:r>
              <a:rPr dirty="0" sz="1800" spc="495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include</a:t>
            </a:r>
            <a:r>
              <a:rPr dirty="0" sz="1800" spc="50">
                <a:solidFill>
                  <a:srgbClr val="5A4D5A"/>
                </a:solidFill>
                <a:latin typeface="Calibri"/>
                <a:cs typeface="Calibri"/>
              </a:rPr>
              <a:t>  </a:t>
            </a: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the</a:t>
            </a:r>
            <a:r>
              <a:rPr dirty="0" sz="1800" spc="40">
                <a:solidFill>
                  <a:srgbClr val="5A4D5A"/>
                </a:solidFill>
                <a:latin typeface="Calibri"/>
                <a:cs typeface="Calibri"/>
              </a:rPr>
              <a:t>  </a:t>
            </a: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origin</a:t>
            </a:r>
            <a:r>
              <a:rPr dirty="0" sz="1800" spc="50">
                <a:solidFill>
                  <a:srgbClr val="5A4D5A"/>
                </a:solidFill>
                <a:latin typeface="Calibri"/>
                <a:cs typeface="Calibri"/>
              </a:rPr>
              <a:t>  </a:t>
            </a: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and</a:t>
            </a:r>
            <a:r>
              <a:rPr dirty="0" sz="1800" spc="55">
                <a:solidFill>
                  <a:srgbClr val="5A4D5A"/>
                </a:solidFill>
                <a:latin typeface="Calibri"/>
                <a:cs typeface="Calibri"/>
              </a:rPr>
              <a:t>  </a:t>
            </a: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nature</a:t>
            </a:r>
            <a:r>
              <a:rPr dirty="0" sz="1800" spc="40">
                <a:solidFill>
                  <a:srgbClr val="5A4D5A"/>
                </a:solidFill>
                <a:latin typeface="Calibri"/>
                <a:cs typeface="Calibri"/>
              </a:rPr>
              <a:t>  </a:t>
            </a: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of</a:t>
            </a:r>
            <a:r>
              <a:rPr dirty="0" sz="1800" spc="50">
                <a:solidFill>
                  <a:srgbClr val="5A4D5A"/>
                </a:solidFill>
                <a:latin typeface="Calibri"/>
                <a:cs typeface="Calibri"/>
              </a:rPr>
              <a:t>  </a:t>
            </a:r>
            <a:r>
              <a:rPr dirty="0" sz="1800" spc="-25">
                <a:solidFill>
                  <a:srgbClr val="5A4D5A"/>
                </a:solidFill>
                <a:latin typeface="Calibri"/>
                <a:cs typeface="Calibri"/>
              </a:rPr>
              <a:t>the </a:t>
            </a: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problem,</a:t>
            </a:r>
            <a:r>
              <a:rPr dirty="0" sz="1800" spc="100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a</a:t>
            </a:r>
            <a:r>
              <a:rPr dirty="0" sz="1800" spc="114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brief</a:t>
            </a:r>
            <a:r>
              <a:rPr dirty="0" sz="1800" spc="95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narrative</a:t>
            </a:r>
            <a:r>
              <a:rPr dirty="0" sz="1800" spc="85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description</a:t>
            </a:r>
            <a:r>
              <a:rPr dirty="0" sz="1800" spc="90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of</a:t>
            </a:r>
            <a:r>
              <a:rPr dirty="0" sz="1800" spc="95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the</a:t>
            </a:r>
            <a:r>
              <a:rPr dirty="0" sz="1800" spc="105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program,</a:t>
            </a:r>
            <a:r>
              <a:rPr dirty="0" sz="1800" spc="95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logic</a:t>
            </a:r>
            <a:r>
              <a:rPr dirty="0" sz="1800" spc="105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tools</a:t>
            </a:r>
            <a:r>
              <a:rPr dirty="0" sz="1800" spc="110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such</a:t>
            </a:r>
            <a:r>
              <a:rPr dirty="0" sz="1800" spc="85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as</a:t>
            </a:r>
            <a:r>
              <a:rPr dirty="0" sz="1800" spc="85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5A4D5A"/>
                </a:solidFill>
                <a:latin typeface="Calibri"/>
                <a:cs typeface="Calibri"/>
              </a:rPr>
              <a:t>flowcharts </a:t>
            </a: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and</a:t>
            </a:r>
            <a:r>
              <a:rPr dirty="0" sz="1800" spc="-85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pseudocode,</a:t>
            </a:r>
            <a:r>
              <a:rPr dirty="0" sz="1800" spc="-25">
                <a:solidFill>
                  <a:srgbClr val="5A4D5A"/>
                </a:solidFill>
                <a:latin typeface="Calibri"/>
                <a:cs typeface="Calibri"/>
              </a:rPr>
              <a:t> data-</a:t>
            </a: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record</a:t>
            </a:r>
            <a:r>
              <a:rPr dirty="0" sz="1800" spc="-65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descriptions,</a:t>
            </a:r>
            <a:r>
              <a:rPr dirty="0" sz="1800" spc="-65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program</a:t>
            </a:r>
            <a:r>
              <a:rPr dirty="0" sz="1800" spc="-70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listings,</a:t>
            </a:r>
            <a:r>
              <a:rPr dirty="0" sz="1800" spc="-55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and</a:t>
            </a:r>
            <a:r>
              <a:rPr dirty="0" sz="1800" spc="-60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testing</a:t>
            </a:r>
            <a:r>
              <a:rPr dirty="0" sz="1800" spc="-65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5A4D5A"/>
                </a:solidFill>
                <a:latin typeface="Calibri"/>
                <a:cs typeface="Calibri"/>
              </a:rPr>
              <a:t>results.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433705">
              <a:lnSpc>
                <a:spcPct val="100000"/>
              </a:lnSpc>
              <a:spcBef>
                <a:spcPts val="95"/>
              </a:spcBef>
            </a:pPr>
            <a:r>
              <a:rPr dirty="0"/>
              <a:t>What</a:t>
            </a:r>
            <a:r>
              <a:rPr dirty="0" spc="-200"/>
              <a:t> </a:t>
            </a:r>
            <a:r>
              <a:rPr dirty="0"/>
              <a:t>Programmers</a:t>
            </a:r>
            <a:r>
              <a:rPr dirty="0" spc="-180"/>
              <a:t> </a:t>
            </a:r>
            <a:r>
              <a:rPr dirty="0" spc="-25"/>
              <a:t>do?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3013075" y="2441956"/>
            <a:ext cx="8614410" cy="34321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8255" indent="459105">
              <a:lnSpc>
                <a:spcPct val="114500"/>
              </a:lnSpc>
              <a:spcBef>
                <a:spcPts val="100"/>
              </a:spcBef>
              <a:buFont typeface="Corbel"/>
              <a:buChar char="–"/>
              <a:tabLst>
                <a:tab pos="471805" algn="l"/>
              </a:tabLst>
            </a:pP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In</a:t>
            </a:r>
            <a:r>
              <a:rPr dirty="0" sz="1800" spc="114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general,</a:t>
            </a:r>
            <a:r>
              <a:rPr dirty="0" sz="1800" spc="110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the</a:t>
            </a:r>
            <a:r>
              <a:rPr dirty="0" sz="1800" spc="145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programmer's</a:t>
            </a:r>
            <a:r>
              <a:rPr dirty="0" sz="1800" spc="120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job</a:t>
            </a:r>
            <a:r>
              <a:rPr dirty="0" sz="1800" spc="100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is</a:t>
            </a:r>
            <a:r>
              <a:rPr dirty="0" sz="1800" spc="100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to</a:t>
            </a:r>
            <a:r>
              <a:rPr dirty="0" sz="1800" spc="140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convert</a:t>
            </a:r>
            <a:r>
              <a:rPr dirty="0" sz="1800" spc="120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problem</a:t>
            </a:r>
            <a:r>
              <a:rPr dirty="0" sz="1800" spc="125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solutions</a:t>
            </a:r>
            <a:r>
              <a:rPr dirty="0" sz="1800" spc="105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into</a:t>
            </a:r>
            <a:r>
              <a:rPr dirty="0" sz="1800" spc="135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instructions</a:t>
            </a:r>
            <a:r>
              <a:rPr dirty="0" sz="1800" spc="125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 spc="-25">
                <a:solidFill>
                  <a:srgbClr val="5A4D5A"/>
                </a:solidFill>
                <a:latin typeface="Calibri"/>
                <a:cs typeface="Calibri"/>
              </a:rPr>
              <a:t>for </a:t>
            </a: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the</a:t>
            </a:r>
            <a:r>
              <a:rPr dirty="0" sz="1800" spc="-25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5A4D5A"/>
                </a:solidFill>
                <a:latin typeface="Calibri"/>
                <a:cs typeface="Calibri"/>
              </a:rPr>
              <a:t>computer.</a:t>
            </a:r>
            <a:endParaRPr sz="1800">
              <a:latin typeface="Calibri"/>
              <a:cs typeface="Calibri"/>
            </a:endParaRPr>
          </a:p>
          <a:p>
            <a:pPr algn="just" marL="12700" marR="6985" indent="459105">
              <a:lnSpc>
                <a:spcPct val="114999"/>
              </a:lnSpc>
              <a:spcBef>
                <a:spcPts val="490"/>
              </a:spcBef>
              <a:buFont typeface="Corbel"/>
              <a:buChar char="–"/>
              <a:tabLst>
                <a:tab pos="471805" algn="l"/>
              </a:tabLst>
            </a:pP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The</a:t>
            </a:r>
            <a:r>
              <a:rPr dirty="0" sz="1800" spc="315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programmer</a:t>
            </a:r>
            <a:r>
              <a:rPr dirty="0" sz="1800" spc="350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prepares</a:t>
            </a:r>
            <a:r>
              <a:rPr dirty="0" sz="1800" spc="340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the</a:t>
            </a:r>
            <a:r>
              <a:rPr dirty="0" sz="1800" spc="315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instructions</a:t>
            </a:r>
            <a:r>
              <a:rPr dirty="0" sz="1800" spc="325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of</a:t>
            </a:r>
            <a:r>
              <a:rPr dirty="0" sz="1800" spc="325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a</a:t>
            </a:r>
            <a:r>
              <a:rPr dirty="0" sz="1800" spc="325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computer</a:t>
            </a:r>
            <a:r>
              <a:rPr dirty="0" sz="1800" spc="350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program</a:t>
            </a:r>
            <a:r>
              <a:rPr dirty="0" sz="1800" spc="330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and</a:t>
            </a:r>
            <a:r>
              <a:rPr dirty="0" sz="1800" spc="320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runs</a:t>
            </a:r>
            <a:r>
              <a:rPr dirty="0" sz="1800" spc="315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5A4D5A"/>
                </a:solidFill>
                <a:latin typeface="Calibri"/>
                <a:cs typeface="Calibri"/>
              </a:rPr>
              <a:t>those </a:t>
            </a: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instructions</a:t>
            </a:r>
            <a:r>
              <a:rPr dirty="0" sz="1800" spc="60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on</a:t>
            </a:r>
            <a:r>
              <a:rPr dirty="0" sz="1800" spc="75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the</a:t>
            </a:r>
            <a:r>
              <a:rPr dirty="0" sz="1800" spc="55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5A4D5A"/>
                </a:solidFill>
                <a:latin typeface="Calibri"/>
                <a:cs typeface="Calibri"/>
              </a:rPr>
              <a:t>computer,</a:t>
            </a:r>
            <a:r>
              <a:rPr dirty="0" sz="1800" spc="70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tests</a:t>
            </a:r>
            <a:r>
              <a:rPr dirty="0" sz="1800" spc="55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the</a:t>
            </a:r>
            <a:r>
              <a:rPr dirty="0" sz="1800" spc="95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program</a:t>
            </a:r>
            <a:r>
              <a:rPr dirty="0" sz="1800" spc="85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to</a:t>
            </a:r>
            <a:r>
              <a:rPr dirty="0" sz="1800" spc="95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see</a:t>
            </a:r>
            <a:r>
              <a:rPr dirty="0" sz="1800" spc="70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if</a:t>
            </a:r>
            <a:r>
              <a:rPr dirty="0" sz="1800" spc="85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it</a:t>
            </a:r>
            <a:r>
              <a:rPr dirty="0" sz="1800" spc="75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is</a:t>
            </a:r>
            <a:r>
              <a:rPr dirty="0" sz="1800" spc="75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working</a:t>
            </a:r>
            <a:r>
              <a:rPr dirty="0" sz="1800" spc="80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properly,</a:t>
            </a:r>
            <a:r>
              <a:rPr dirty="0" sz="1800" spc="95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and</a:t>
            </a:r>
            <a:r>
              <a:rPr dirty="0" sz="1800" spc="75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5A4D5A"/>
                </a:solidFill>
                <a:latin typeface="Calibri"/>
                <a:cs typeface="Calibri"/>
              </a:rPr>
              <a:t>makes </a:t>
            </a: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corrections</a:t>
            </a:r>
            <a:r>
              <a:rPr dirty="0" sz="1800" spc="-55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to</a:t>
            </a:r>
            <a:r>
              <a:rPr dirty="0" sz="1800" spc="-40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the</a:t>
            </a:r>
            <a:r>
              <a:rPr dirty="0" sz="1800" spc="-45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5A4D5A"/>
                </a:solidFill>
                <a:latin typeface="Calibri"/>
                <a:cs typeface="Calibri"/>
              </a:rPr>
              <a:t>program.</a:t>
            </a:r>
            <a:endParaRPr sz="1800">
              <a:latin typeface="Calibri"/>
              <a:cs typeface="Calibri"/>
            </a:endParaRPr>
          </a:p>
          <a:p>
            <a:pPr algn="just" marL="471805" indent="-459105">
              <a:lnSpc>
                <a:spcPct val="100000"/>
              </a:lnSpc>
              <a:spcBef>
                <a:spcPts val="844"/>
              </a:spcBef>
              <a:buFont typeface="Corbel"/>
              <a:buChar char="–"/>
              <a:tabLst>
                <a:tab pos="471805" algn="l"/>
              </a:tabLst>
            </a:pP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The</a:t>
            </a:r>
            <a:r>
              <a:rPr dirty="0" sz="1800" spc="-30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5A4D5A"/>
                </a:solidFill>
                <a:latin typeface="Calibri"/>
                <a:cs typeface="Calibri"/>
              </a:rPr>
              <a:t>programmer</a:t>
            </a:r>
            <a:r>
              <a:rPr dirty="0" sz="1800" spc="-25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also</a:t>
            </a:r>
            <a:r>
              <a:rPr dirty="0" sz="1800" spc="-25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writes</a:t>
            </a:r>
            <a:r>
              <a:rPr dirty="0" sz="1800" spc="-30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a</a:t>
            </a:r>
            <a:r>
              <a:rPr dirty="0" sz="1800" spc="-40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report</a:t>
            </a:r>
            <a:r>
              <a:rPr dirty="0" sz="1800" spc="-20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on</a:t>
            </a:r>
            <a:r>
              <a:rPr dirty="0" sz="1800" spc="-30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the</a:t>
            </a:r>
            <a:r>
              <a:rPr dirty="0" sz="1800" spc="-30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5A4D5A"/>
                </a:solidFill>
                <a:latin typeface="Calibri"/>
                <a:cs typeface="Calibri"/>
              </a:rPr>
              <a:t>program.</a:t>
            </a:r>
            <a:endParaRPr sz="1800">
              <a:latin typeface="Calibri"/>
              <a:cs typeface="Calibri"/>
            </a:endParaRPr>
          </a:p>
          <a:p>
            <a:pPr algn="just" marL="471805" indent="-459105">
              <a:lnSpc>
                <a:spcPct val="100000"/>
              </a:lnSpc>
              <a:spcBef>
                <a:spcPts val="815"/>
              </a:spcBef>
              <a:buFont typeface="Corbel"/>
              <a:buChar char="–"/>
              <a:tabLst>
                <a:tab pos="471805" algn="l"/>
              </a:tabLst>
            </a:pP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These</a:t>
            </a:r>
            <a:r>
              <a:rPr dirty="0" sz="1800" spc="5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activities</a:t>
            </a:r>
            <a:r>
              <a:rPr dirty="0" sz="1800" spc="10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are all</a:t>
            </a:r>
            <a:r>
              <a:rPr dirty="0" sz="1800" spc="30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done</a:t>
            </a:r>
            <a:r>
              <a:rPr dirty="0" sz="1800" spc="30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to</a:t>
            </a:r>
            <a:r>
              <a:rPr dirty="0" sz="1800" spc="20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help</a:t>
            </a:r>
            <a:r>
              <a:rPr dirty="0" sz="1800" spc="10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a</a:t>
            </a:r>
            <a:r>
              <a:rPr dirty="0" sz="1800" spc="35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user</a:t>
            </a:r>
            <a:r>
              <a:rPr dirty="0" sz="1800" spc="10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fill</a:t>
            </a:r>
            <a:r>
              <a:rPr dirty="0" sz="1800" spc="10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a</a:t>
            </a:r>
            <a:r>
              <a:rPr dirty="0" sz="1800" spc="35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need,</a:t>
            </a:r>
            <a:r>
              <a:rPr dirty="0" sz="1800" spc="10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such</a:t>
            </a:r>
            <a:r>
              <a:rPr dirty="0" sz="1800" spc="10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as</a:t>
            </a:r>
            <a:r>
              <a:rPr dirty="0" sz="1800" spc="30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paying</a:t>
            </a:r>
            <a:r>
              <a:rPr dirty="0" sz="1800" spc="30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employees,</a:t>
            </a:r>
            <a:r>
              <a:rPr dirty="0" sz="1800" spc="25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5A4D5A"/>
                </a:solidFill>
                <a:latin typeface="Calibri"/>
                <a:cs typeface="Calibri"/>
              </a:rPr>
              <a:t>billing</a:t>
            </a:r>
            <a:endParaRPr sz="1800">
              <a:latin typeface="Calibri"/>
              <a:cs typeface="Calibri"/>
            </a:endParaRPr>
          </a:p>
          <a:p>
            <a:pPr algn="just" marL="12700">
              <a:lnSpc>
                <a:spcPct val="100000"/>
              </a:lnSpc>
              <a:spcBef>
                <a:spcPts val="340"/>
              </a:spcBef>
            </a:pPr>
            <a:r>
              <a:rPr dirty="0" sz="1800" spc="-10">
                <a:solidFill>
                  <a:srgbClr val="5A4D5A"/>
                </a:solidFill>
                <a:latin typeface="Calibri"/>
                <a:cs typeface="Calibri"/>
              </a:rPr>
              <a:t>customers,</a:t>
            </a:r>
            <a:r>
              <a:rPr dirty="0" sz="1800" spc="-55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or</a:t>
            </a:r>
            <a:r>
              <a:rPr dirty="0" sz="1800" spc="-65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admitting</a:t>
            </a:r>
            <a:r>
              <a:rPr dirty="0" sz="1800" spc="-30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students</a:t>
            </a:r>
            <a:r>
              <a:rPr dirty="0" sz="1800" spc="-5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to</a:t>
            </a:r>
            <a:r>
              <a:rPr dirty="0" sz="1800" spc="-55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5A4D5A"/>
                </a:solidFill>
                <a:latin typeface="Calibri"/>
                <a:cs typeface="Calibri"/>
              </a:rPr>
              <a:t>college.</a:t>
            </a:r>
            <a:endParaRPr sz="1800">
              <a:latin typeface="Calibri"/>
              <a:cs typeface="Calibri"/>
            </a:endParaRPr>
          </a:p>
          <a:p>
            <a:pPr algn="just" marL="471805" indent="-459105">
              <a:lnSpc>
                <a:spcPct val="100000"/>
              </a:lnSpc>
              <a:spcBef>
                <a:spcPts val="815"/>
              </a:spcBef>
              <a:buFont typeface="Corbel"/>
              <a:buChar char="–"/>
              <a:tabLst>
                <a:tab pos="471805" algn="l"/>
              </a:tabLst>
            </a:pP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The</a:t>
            </a:r>
            <a:r>
              <a:rPr dirty="0" sz="1800" spc="190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programming</a:t>
            </a:r>
            <a:r>
              <a:rPr dirty="0" sz="1800" spc="195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activities</a:t>
            </a:r>
            <a:r>
              <a:rPr dirty="0" sz="1800" spc="195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just</a:t>
            </a:r>
            <a:r>
              <a:rPr dirty="0" sz="1800" spc="240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described</a:t>
            </a:r>
            <a:r>
              <a:rPr dirty="0" sz="1800" spc="195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could</a:t>
            </a:r>
            <a:r>
              <a:rPr dirty="0" sz="1800" spc="215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be</a:t>
            </a:r>
            <a:r>
              <a:rPr dirty="0" sz="1800" spc="190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done,</a:t>
            </a:r>
            <a:r>
              <a:rPr dirty="0" sz="1800" spc="229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perhaps,</a:t>
            </a:r>
            <a:r>
              <a:rPr dirty="0" sz="1800" spc="210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as</a:t>
            </a:r>
            <a:r>
              <a:rPr dirty="0" sz="1800" spc="190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solo</a:t>
            </a:r>
            <a:r>
              <a:rPr dirty="0" sz="1800" spc="210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5A4D5A"/>
                </a:solidFill>
                <a:latin typeface="Calibri"/>
                <a:cs typeface="Calibri"/>
              </a:rPr>
              <a:t>activities,</a:t>
            </a:r>
            <a:endParaRPr sz="1800">
              <a:latin typeface="Calibri"/>
              <a:cs typeface="Calibri"/>
            </a:endParaRPr>
          </a:p>
          <a:p>
            <a:pPr algn="just" marL="12700">
              <a:lnSpc>
                <a:spcPct val="100000"/>
              </a:lnSpc>
              <a:spcBef>
                <a:spcPts val="315"/>
              </a:spcBef>
            </a:pP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but</a:t>
            </a:r>
            <a:r>
              <a:rPr dirty="0" sz="1800" spc="-30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a</a:t>
            </a:r>
            <a:r>
              <a:rPr dirty="0" sz="1800" spc="-40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5A4D5A"/>
                </a:solidFill>
                <a:latin typeface="Calibri"/>
                <a:cs typeface="Calibri"/>
              </a:rPr>
              <a:t>programmer</a:t>
            </a: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 typically</a:t>
            </a:r>
            <a:r>
              <a:rPr dirty="0" sz="1800" spc="-20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5A4D5A"/>
                </a:solidFill>
                <a:latin typeface="Calibri"/>
                <a:cs typeface="Calibri"/>
              </a:rPr>
              <a:t>interacts </a:t>
            </a: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with</a:t>
            </a:r>
            <a:r>
              <a:rPr dirty="0" sz="1800" spc="-25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a</a:t>
            </a:r>
            <a:r>
              <a:rPr dirty="0" sz="1800" spc="-45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variety</a:t>
            </a:r>
            <a:r>
              <a:rPr dirty="0" sz="1800" spc="-45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of</a:t>
            </a:r>
            <a:r>
              <a:rPr dirty="0" sz="1800" spc="-35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5A4D5A"/>
                </a:solidFill>
                <a:latin typeface="Calibri"/>
                <a:cs typeface="Calibri"/>
              </a:rPr>
              <a:t>people.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433705">
              <a:lnSpc>
                <a:spcPct val="100000"/>
              </a:lnSpc>
              <a:spcBef>
                <a:spcPts val="95"/>
              </a:spcBef>
            </a:pPr>
            <a:r>
              <a:rPr dirty="0"/>
              <a:t>Programming</a:t>
            </a:r>
            <a:r>
              <a:rPr dirty="0" spc="-105"/>
              <a:t> </a:t>
            </a:r>
            <a:r>
              <a:rPr dirty="0"/>
              <a:t>as</a:t>
            </a:r>
            <a:r>
              <a:rPr dirty="0" spc="-125"/>
              <a:t> </a:t>
            </a:r>
            <a:r>
              <a:rPr dirty="0"/>
              <a:t>a</a:t>
            </a:r>
            <a:r>
              <a:rPr dirty="0" spc="-100"/>
              <a:t> </a:t>
            </a:r>
            <a:r>
              <a:rPr dirty="0" spc="-10"/>
              <a:t>Career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3013075" y="2441956"/>
            <a:ext cx="8612505" cy="2806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32740" marR="10795" indent="-320675">
              <a:lnSpc>
                <a:spcPct val="111200"/>
              </a:lnSpc>
              <a:spcBef>
                <a:spcPts val="100"/>
              </a:spcBef>
              <a:buFont typeface="Corbel"/>
              <a:buChar char="–"/>
              <a:tabLst>
                <a:tab pos="332740" algn="l"/>
              </a:tabLst>
            </a:pP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Although</a:t>
            </a:r>
            <a:r>
              <a:rPr dirty="0" sz="1800" spc="290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many</a:t>
            </a:r>
            <a:r>
              <a:rPr dirty="0" sz="1800" spc="295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people</a:t>
            </a:r>
            <a:r>
              <a:rPr dirty="0" sz="1800" spc="295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make</a:t>
            </a:r>
            <a:r>
              <a:rPr dirty="0" sz="1800" spc="285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career</a:t>
            </a:r>
            <a:r>
              <a:rPr dirty="0" sz="1800" spc="290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changes</a:t>
            </a:r>
            <a:r>
              <a:rPr dirty="0" sz="1800" spc="290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into</a:t>
            </a:r>
            <a:r>
              <a:rPr dirty="0" sz="1800" spc="305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the</a:t>
            </a:r>
            <a:r>
              <a:rPr dirty="0" sz="1800" spc="290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computer</a:t>
            </a:r>
            <a:r>
              <a:rPr dirty="0" sz="1800" spc="320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field,</a:t>
            </a:r>
            <a:r>
              <a:rPr dirty="0" sz="1800" spc="295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few</a:t>
            </a:r>
            <a:r>
              <a:rPr dirty="0" sz="1800" spc="305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choose</a:t>
            </a:r>
            <a:r>
              <a:rPr dirty="0" sz="1800" spc="290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 spc="-25">
                <a:solidFill>
                  <a:srgbClr val="5A4D5A"/>
                </a:solidFill>
                <a:latin typeface="Calibri"/>
                <a:cs typeface="Calibri"/>
              </a:rPr>
              <a:t>to </a:t>
            </a: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leave</a:t>
            </a:r>
            <a:r>
              <a:rPr dirty="0" sz="1800" spc="-80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 spc="-25">
                <a:solidFill>
                  <a:srgbClr val="5A4D5A"/>
                </a:solidFill>
                <a:latin typeface="Calibri"/>
                <a:cs typeface="Calibri"/>
              </a:rPr>
              <a:t>it.</a:t>
            </a:r>
            <a:endParaRPr sz="1800">
              <a:latin typeface="Calibri"/>
              <a:cs typeface="Calibri"/>
            </a:endParaRPr>
          </a:p>
          <a:p>
            <a:pPr marL="332740" indent="-320040">
              <a:lnSpc>
                <a:spcPct val="100000"/>
              </a:lnSpc>
              <a:spcBef>
                <a:spcPts val="1125"/>
              </a:spcBef>
              <a:buFont typeface="Corbel"/>
              <a:buChar char="–"/>
              <a:tabLst>
                <a:tab pos="332740" algn="l"/>
              </a:tabLst>
            </a:pP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Surveys</a:t>
            </a:r>
            <a:r>
              <a:rPr dirty="0" sz="1800" spc="170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of</a:t>
            </a:r>
            <a:r>
              <a:rPr dirty="0" sz="1800" spc="180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computer</a:t>
            </a:r>
            <a:r>
              <a:rPr dirty="0" sz="1800" spc="190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professionals,</a:t>
            </a:r>
            <a:r>
              <a:rPr dirty="0" sz="1800" spc="190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especially</a:t>
            </a:r>
            <a:r>
              <a:rPr dirty="0" sz="1800" spc="195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programmers,</a:t>
            </a:r>
            <a:r>
              <a:rPr dirty="0" sz="1800" spc="185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consistently</a:t>
            </a:r>
            <a:r>
              <a:rPr dirty="0" sz="1800" spc="180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report</a:t>
            </a:r>
            <a:r>
              <a:rPr dirty="0" sz="1800" spc="170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a</a:t>
            </a:r>
            <a:r>
              <a:rPr dirty="0" sz="1800" spc="200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 spc="-20">
                <a:solidFill>
                  <a:srgbClr val="5A4D5A"/>
                </a:solidFill>
                <a:latin typeface="Calibri"/>
                <a:cs typeface="Calibri"/>
              </a:rPr>
              <a:t>high</a:t>
            </a:r>
            <a:endParaRPr sz="1800">
              <a:latin typeface="Calibri"/>
              <a:cs typeface="Calibri"/>
            </a:endParaRPr>
          </a:p>
          <a:p>
            <a:pPr marL="332740">
              <a:lnSpc>
                <a:spcPct val="100000"/>
              </a:lnSpc>
              <a:spcBef>
                <a:spcPts val="245"/>
              </a:spcBef>
            </a:pP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level</a:t>
            </a:r>
            <a:r>
              <a:rPr dirty="0" sz="1800" spc="-10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of</a:t>
            </a:r>
            <a:r>
              <a:rPr dirty="0" sz="1800" spc="-25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job</a:t>
            </a:r>
            <a:r>
              <a:rPr dirty="0" sz="1800" spc="-30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5A4D5A"/>
                </a:solidFill>
                <a:latin typeface="Calibri"/>
                <a:cs typeface="Calibri"/>
              </a:rPr>
              <a:t>satisfaction.</a:t>
            </a:r>
            <a:endParaRPr sz="1800">
              <a:latin typeface="Calibri"/>
              <a:cs typeface="Calibri"/>
            </a:endParaRPr>
          </a:p>
          <a:p>
            <a:pPr marL="332740" indent="-320040">
              <a:lnSpc>
                <a:spcPct val="100000"/>
              </a:lnSpc>
              <a:spcBef>
                <a:spcPts val="1150"/>
              </a:spcBef>
              <a:buFont typeface="Corbel"/>
              <a:buChar char="–"/>
              <a:tabLst>
                <a:tab pos="332740" algn="l"/>
              </a:tabLst>
            </a:pP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There</a:t>
            </a:r>
            <a:r>
              <a:rPr dirty="0" sz="1800" spc="185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are</a:t>
            </a:r>
            <a:r>
              <a:rPr dirty="0" sz="1800" spc="185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several</a:t>
            </a:r>
            <a:r>
              <a:rPr dirty="0" sz="1800" spc="190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reasons</a:t>
            </a:r>
            <a:r>
              <a:rPr dirty="0" sz="1800" spc="185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for</a:t>
            </a:r>
            <a:r>
              <a:rPr dirty="0" sz="1800" spc="190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this</a:t>
            </a:r>
            <a:r>
              <a:rPr dirty="0" sz="1800" spc="185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contentment.</a:t>
            </a:r>
            <a:r>
              <a:rPr dirty="0" sz="1800" spc="200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One</a:t>
            </a:r>
            <a:r>
              <a:rPr dirty="0" sz="1800" spc="180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is</a:t>
            </a:r>
            <a:r>
              <a:rPr dirty="0" sz="1800" spc="185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the</a:t>
            </a:r>
            <a:r>
              <a:rPr dirty="0" sz="1800" spc="190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5A4D5A"/>
                </a:solidFill>
                <a:latin typeface="Calibri"/>
                <a:cs typeface="Calibri"/>
              </a:rPr>
              <a:t>challenge-</a:t>
            </a: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most</a:t>
            </a:r>
            <a:r>
              <a:rPr dirty="0" sz="1800" spc="195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jobs</a:t>
            </a:r>
            <a:r>
              <a:rPr dirty="0" sz="1800" spc="185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in</a:t>
            </a:r>
            <a:r>
              <a:rPr dirty="0" sz="1800" spc="185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 spc="-25">
                <a:solidFill>
                  <a:srgbClr val="5A4D5A"/>
                </a:solidFill>
                <a:latin typeface="Calibri"/>
                <a:cs typeface="Calibri"/>
              </a:rPr>
              <a:t>the</a:t>
            </a:r>
            <a:endParaRPr sz="1800">
              <a:latin typeface="Calibri"/>
              <a:cs typeface="Calibri"/>
            </a:endParaRPr>
          </a:p>
          <a:p>
            <a:pPr marL="332740">
              <a:lnSpc>
                <a:spcPct val="100000"/>
              </a:lnSpc>
              <a:spcBef>
                <a:spcPts val="220"/>
              </a:spcBef>
            </a:pP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computer</a:t>
            </a:r>
            <a:r>
              <a:rPr dirty="0" sz="1800" spc="-35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industry</a:t>
            </a:r>
            <a:r>
              <a:rPr dirty="0" sz="1800" spc="-35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are</a:t>
            </a:r>
            <a:r>
              <a:rPr dirty="0" sz="1800" spc="-55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not</a:t>
            </a:r>
            <a:r>
              <a:rPr dirty="0" sz="1800" spc="-80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5A4D5A"/>
                </a:solidFill>
                <a:latin typeface="Calibri"/>
                <a:cs typeface="Calibri"/>
              </a:rPr>
              <a:t>routine.</a:t>
            </a:r>
            <a:endParaRPr sz="1800">
              <a:latin typeface="Calibri"/>
              <a:cs typeface="Calibri"/>
            </a:endParaRPr>
          </a:p>
          <a:p>
            <a:pPr marL="332740" indent="-320040">
              <a:lnSpc>
                <a:spcPct val="100000"/>
              </a:lnSpc>
              <a:spcBef>
                <a:spcPts val="1150"/>
              </a:spcBef>
              <a:buFont typeface="Corbel"/>
              <a:buChar char="–"/>
              <a:tabLst>
                <a:tab pos="332740" algn="l"/>
              </a:tabLst>
            </a:pP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Another</a:t>
            </a:r>
            <a:r>
              <a:rPr dirty="0" sz="1800" spc="110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is</a:t>
            </a:r>
            <a:r>
              <a:rPr dirty="0" sz="1800" spc="105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security</a:t>
            </a:r>
            <a:r>
              <a:rPr dirty="0" sz="1800" spc="135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since</a:t>
            </a:r>
            <a:r>
              <a:rPr dirty="0" sz="1800" spc="135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established</a:t>
            </a:r>
            <a:r>
              <a:rPr dirty="0" sz="1800" spc="110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computer</a:t>
            </a:r>
            <a:r>
              <a:rPr dirty="0" sz="1800" spc="135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professionals</a:t>
            </a:r>
            <a:r>
              <a:rPr dirty="0" sz="1800" spc="135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can</a:t>
            </a:r>
            <a:r>
              <a:rPr dirty="0" sz="1800" spc="150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usually</a:t>
            </a:r>
            <a:r>
              <a:rPr dirty="0" sz="1800" spc="114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find</a:t>
            </a:r>
            <a:r>
              <a:rPr dirty="0" sz="1800" spc="130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work</a:t>
            </a:r>
            <a:r>
              <a:rPr dirty="0" sz="1800" spc="110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 spc="-25">
                <a:solidFill>
                  <a:srgbClr val="5A4D5A"/>
                </a:solidFill>
                <a:latin typeface="Calibri"/>
                <a:cs typeface="Calibri"/>
              </a:rPr>
              <a:t>and</a:t>
            </a:r>
            <a:endParaRPr sz="1800">
              <a:latin typeface="Calibri"/>
              <a:cs typeface="Calibri"/>
            </a:endParaRPr>
          </a:p>
          <a:p>
            <a:pPr marL="332740">
              <a:lnSpc>
                <a:spcPct val="100000"/>
              </a:lnSpc>
              <a:spcBef>
                <a:spcPts val="245"/>
              </a:spcBef>
            </a:pP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that</a:t>
            </a:r>
            <a:r>
              <a:rPr dirty="0" sz="1800" spc="-30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work</a:t>
            </a:r>
            <a:r>
              <a:rPr dirty="0" sz="1800" spc="-45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pays</a:t>
            </a:r>
            <a:r>
              <a:rPr dirty="0" sz="1800" spc="-50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 spc="-20">
                <a:solidFill>
                  <a:srgbClr val="5A4D5A"/>
                </a:solidFill>
                <a:latin typeface="Calibri"/>
                <a:cs typeface="Calibri"/>
              </a:rPr>
              <a:t>well-</a:t>
            </a: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you</a:t>
            </a:r>
            <a:r>
              <a:rPr dirty="0" sz="1800" spc="-30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will</a:t>
            </a:r>
            <a:r>
              <a:rPr dirty="0" sz="1800" spc="-25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probably</a:t>
            </a:r>
            <a:r>
              <a:rPr dirty="0" sz="1800" spc="-20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not</a:t>
            </a:r>
            <a:r>
              <a:rPr dirty="0" sz="1800" spc="-40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be</a:t>
            </a:r>
            <a:r>
              <a:rPr dirty="0" sz="1800" spc="-10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rich,</a:t>
            </a:r>
            <a:r>
              <a:rPr dirty="0" sz="1800" spc="-35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but</a:t>
            </a:r>
            <a:r>
              <a:rPr dirty="0" sz="1800" spc="-10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you</a:t>
            </a:r>
            <a:r>
              <a:rPr dirty="0" sz="1800" spc="-50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should</a:t>
            </a:r>
            <a:r>
              <a:rPr dirty="0" sz="1800" spc="-10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be</a:t>
            </a:r>
            <a:r>
              <a:rPr dirty="0" sz="1800" spc="-25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5A4D5A"/>
                </a:solidFill>
                <a:latin typeface="Calibri"/>
                <a:cs typeface="Calibri"/>
              </a:rPr>
              <a:t>comfortable.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8575" rIns="0" bIns="0" rtlCol="0" vert="horz">
            <a:spAutoFit/>
          </a:bodyPr>
          <a:lstStyle/>
          <a:p>
            <a:pPr marL="433705" marR="5080">
              <a:lnSpc>
                <a:spcPts val="5240"/>
              </a:lnSpc>
              <a:spcBef>
                <a:spcPts val="225"/>
              </a:spcBef>
            </a:pPr>
            <a:r>
              <a:rPr dirty="0"/>
              <a:t>Level</a:t>
            </a:r>
            <a:r>
              <a:rPr dirty="0" spc="-65"/>
              <a:t> </a:t>
            </a:r>
            <a:r>
              <a:rPr dirty="0"/>
              <a:t>of</a:t>
            </a:r>
            <a:r>
              <a:rPr dirty="0" spc="-70"/>
              <a:t> </a:t>
            </a:r>
            <a:r>
              <a:rPr dirty="0" spc="-10"/>
              <a:t>Programming Languages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3013075" y="2308715"/>
            <a:ext cx="7110730" cy="2592705"/>
          </a:xfrm>
          <a:prstGeom prst="rect">
            <a:avLst/>
          </a:prstGeom>
        </p:spPr>
        <p:txBody>
          <a:bodyPr wrap="square" lIns="0" tIns="17526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380"/>
              </a:spcBef>
              <a:buFont typeface="Corbel"/>
              <a:buChar char="–"/>
              <a:tabLst>
                <a:tab pos="332740" algn="l"/>
              </a:tabLst>
            </a:pPr>
            <a:r>
              <a:rPr dirty="0" sz="2000">
                <a:solidFill>
                  <a:srgbClr val="5A4D5A"/>
                </a:solidFill>
                <a:latin typeface="Calibri"/>
                <a:cs typeface="Calibri"/>
              </a:rPr>
              <a:t>There</a:t>
            </a:r>
            <a:r>
              <a:rPr dirty="0" sz="2000" spc="-40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5A4D5A"/>
                </a:solidFill>
                <a:latin typeface="Calibri"/>
                <a:cs typeface="Calibri"/>
              </a:rPr>
              <a:t>are</a:t>
            </a:r>
            <a:r>
              <a:rPr dirty="0" sz="2000" spc="-80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5A4D5A"/>
                </a:solidFill>
                <a:latin typeface="Calibri"/>
                <a:cs typeface="Calibri"/>
              </a:rPr>
              <a:t>five(5)</a:t>
            </a:r>
            <a:r>
              <a:rPr dirty="0" sz="2000" spc="-15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5A4D5A"/>
                </a:solidFill>
                <a:latin typeface="Calibri"/>
                <a:cs typeface="Calibri"/>
              </a:rPr>
              <a:t>levels</a:t>
            </a:r>
            <a:r>
              <a:rPr dirty="0" sz="2000" spc="-20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5A4D5A"/>
                </a:solidFill>
                <a:latin typeface="Calibri"/>
                <a:cs typeface="Calibri"/>
              </a:rPr>
              <a:t>or</a:t>
            </a:r>
            <a:r>
              <a:rPr dirty="0" sz="2000" spc="-65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2000" spc="-10">
                <a:solidFill>
                  <a:srgbClr val="5A4D5A"/>
                </a:solidFill>
                <a:latin typeface="Calibri"/>
                <a:cs typeface="Calibri"/>
              </a:rPr>
              <a:t>generations</a:t>
            </a:r>
            <a:r>
              <a:rPr dirty="0" sz="2000" spc="-40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5A4D5A"/>
                </a:solidFill>
                <a:latin typeface="Calibri"/>
                <a:cs typeface="Calibri"/>
              </a:rPr>
              <a:t>of</a:t>
            </a:r>
            <a:r>
              <a:rPr dirty="0" sz="2000" spc="-70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2000" spc="-10">
                <a:solidFill>
                  <a:srgbClr val="5A4D5A"/>
                </a:solidFill>
                <a:latin typeface="Calibri"/>
                <a:cs typeface="Calibri"/>
              </a:rPr>
              <a:t>programming</a:t>
            </a:r>
            <a:r>
              <a:rPr dirty="0" sz="2000" spc="-55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2000" spc="-10">
                <a:solidFill>
                  <a:srgbClr val="5A4D5A"/>
                </a:solidFill>
                <a:latin typeface="Calibri"/>
                <a:cs typeface="Calibri"/>
              </a:rPr>
              <a:t>languages:</a:t>
            </a:r>
            <a:endParaRPr sz="2000">
              <a:latin typeface="Calibri"/>
              <a:cs typeface="Calibri"/>
            </a:endParaRPr>
          </a:p>
          <a:p>
            <a:pPr lvl="1" marL="652780" indent="-320040">
              <a:lnSpc>
                <a:spcPct val="100000"/>
              </a:lnSpc>
              <a:spcBef>
                <a:spcPts val="1165"/>
              </a:spcBef>
              <a:buFont typeface="Corbel"/>
              <a:buChar char="–"/>
              <a:tabLst>
                <a:tab pos="652780" algn="l"/>
              </a:tabLst>
            </a:pP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Machine</a:t>
            </a:r>
            <a:r>
              <a:rPr dirty="0" sz="1800" spc="-20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5A4D5A"/>
                </a:solidFill>
                <a:latin typeface="Calibri"/>
                <a:cs typeface="Calibri"/>
              </a:rPr>
              <a:t>language</a:t>
            </a:r>
            <a:endParaRPr sz="1800">
              <a:latin typeface="Calibri"/>
              <a:cs typeface="Calibri"/>
            </a:endParaRPr>
          </a:p>
          <a:p>
            <a:pPr lvl="1" marL="652780" indent="-320040">
              <a:lnSpc>
                <a:spcPct val="100000"/>
              </a:lnSpc>
              <a:spcBef>
                <a:spcPts val="1150"/>
              </a:spcBef>
              <a:buFont typeface="Corbel"/>
              <a:buChar char="–"/>
              <a:tabLst>
                <a:tab pos="652780" algn="l"/>
              </a:tabLst>
            </a:pP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Assembly</a:t>
            </a:r>
            <a:r>
              <a:rPr dirty="0" sz="1800" spc="-65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5A4D5A"/>
                </a:solidFill>
                <a:latin typeface="Calibri"/>
                <a:cs typeface="Calibri"/>
              </a:rPr>
              <a:t>languages</a:t>
            </a:r>
            <a:endParaRPr sz="1800">
              <a:latin typeface="Calibri"/>
              <a:cs typeface="Calibri"/>
            </a:endParaRPr>
          </a:p>
          <a:p>
            <a:pPr lvl="1" marL="652780" indent="-320040">
              <a:lnSpc>
                <a:spcPct val="100000"/>
              </a:lnSpc>
              <a:spcBef>
                <a:spcPts val="1130"/>
              </a:spcBef>
              <a:buFont typeface="Corbel"/>
              <a:buChar char="–"/>
              <a:tabLst>
                <a:tab pos="652780" algn="l"/>
              </a:tabLst>
            </a:pPr>
            <a:r>
              <a:rPr dirty="0" sz="1800" spc="-10">
                <a:solidFill>
                  <a:srgbClr val="5A4D5A"/>
                </a:solidFill>
                <a:latin typeface="Calibri"/>
                <a:cs typeface="Calibri"/>
              </a:rPr>
              <a:t>High-</a:t>
            </a: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level</a:t>
            </a:r>
            <a:r>
              <a:rPr dirty="0" sz="1800" spc="-30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5A4D5A"/>
                </a:solidFill>
                <a:latin typeface="Calibri"/>
                <a:cs typeface="Calibri"/>
              </a:rPr>
              <a:t>languages</a:t>
            </a:r>
            <a:endParaRPr sz="1800">
              <a:latin typeface="Calibri"/>
              <a:cs typeface="Calibri"/>
            </a:endParaRPr>
          </a:p>
          <a:p>
            <a:pPr lvl="1" marL="652780" indent="-320040">
              <a:lnSpc>
                <a:spcPct val="100000"/>
              </a:lnSpc>
              <a:spcBef>
                <a:spcPts val="1155"/>
              </a:spcBef>
              <a:buFont typeface="Corbel"/>
              <a:buChar char="–"/>
              <a:tabLst>
                <a:tab pos="652780" algn="l"/>
              </a:tabLst>
            </a:pP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Very</a:t>
            </a:r>
            <a:r>
              <a:rPr dirty="0" sz="1800" spc="-55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 spc="-20">
                <a:solidFill>
                  <a:srgbClr val="5A4D5A"/>
                </a:solidFill>
                <a:latin typeface="Calibri"/>
                <a:cs typeface="Calibri"/>
              </a:rPr>
              <a:t>high-</a:t>
            </a: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level</a:t>
            </a:r>
            <a:r>
              <a:rPr dirty="0" sz="1800" spc="-10">
                <a:solidFill>
                  <a:srgbClr val="5A4D5A"/>
                </a:solidFill>
                <a:latin typeface="Calibri"/>
                <a:cs typeface="Calibri"/>
              </a:rPr>
              <a:t> languages</a:t>
            </a:r>
            <a:endParaRPr sz="1800">
              <a:latin typeface="Calibri"/>
              <a:cs typeface="Calibri"/>
            </a:endParaRPr>
          </a:p>
          <a:p>
            <a:pPr lvl="1" marL="652780" indent="-320040">
              <a:lnSpc>
                <a:spcPct val="100000"/>
              </a:lnSpc>
              <a:spcBef>
                <a:spcPts val="1130"/>
              </a:spcBef>
              <a:buFont typeface="Corbel"/>
              <a:buChar char="–"/>
              <a:tabLst>
                <a:tab pos="652780" algn="l"/>
              </a:tabLst>
            </a:pP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Natural</a:t>
            </a:r>
            <a:r>
              <a:rPr dirty="0" sz="1800" spc="-80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5A4D5A"/>
                </a:solidFill>
                <a:latin typeface="Calibri"/>
                <a:cs typeface="Calibri"/>
              </a:rPr>
              <a:t>languages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8575" rIns="0" bIns="0" rtlCol="0" vert="horz">
            <a:spAutoFit/>
          </a:bodyPr>
          <a:lstStyle/>
          <a:p>
            <a:pPr marL="433705" marR="5080">
              <a:lnSpc>
                <a:spcPts val="5240"/>
              </a:lnSpc>
              <a:spcBef>
                <a:spcPts val="225"/>
              </a:spcBef>
            </a:pPr>
            <a:r>
              <a:rPr dirty="0"/>
              <a:t>Level</a:t>
            </a:r>
            <a:r>
              <a:rPr dirty="0" spc="-65"/>
              <a:t> </a:t>
            </a:r>
            <a:r>
              <a:rPr dirty="0"/>
              <a:t>of</a:t>
            </a:r>
            <a:r>
              <a:rPr dirty="0" spc="-70"/>
              <a:t> </a:t>
            </a:r>
            <a:r>
              <a:rPr dirty="0" spc="-10"/>
              <a:t>Programming Languages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3013075" y="2318172"/>
            <a:ext cx="8613140" cy="2470150"/>
          </a:xfrm>
          <a:prstGeom prst="rect">
            <a:avLst/>
          </a:prstGeom>
        </p:spPr>
        <p:txBody>
          <a:bodyPr wrap="square" lIns="0" tIns="144780" rIns="0" bIns="0" rtlCol="0" vert="horz">
            <a:spAutoFit/>
          </a:bodyPr>
          <a:lstStyle/>
          <a:p>
            <a:pPr algn="just" marL="332105" indent="-319405">
              <a:lnSpc>
                <a:spcPct val="100000"/>
              </a:lnSpc>
              <a:spcBef>
                <a:spcPts val="1140"/>
              </a:spcBef>
              <a:buFont typeface="Corbel"/>
              <a:buChar char="–"/>
              <a:tabLst>
                <a:tab pos="332105" algn="l"/>
              </a:tabLst>
            </a:pPr>
            <a:r>
              <a:rPr dirty="0" sz="2000">
                <a:solidFill>
                  <a:srgbClr val="5A4D5A"/>
                </a:solidFill>
                <a:latin typeface="Calibri"/>
                <a:cs typeface="Calibri"/>
              </a:rPr>
              <a:t>Machine</a:t>
            </a:r>
            <a:r>
              <a:rPr dirty="0" sz="2000" spc="-60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2000" spc="-10">
                <a:solidFill>
                  <a:srgbClr val="5A4D5A"/>
                </a:solidFill>
                <a:latin typeface="Calibri"/>
                <a:cs typeface="Calibri"/>
              </a:rPr>
              <a:t>language</a:t>
            </a:r>
            <a:endParaRPr sz="2000">
              <a:latin typeface="Calibri"/>
              <a:cs typeface="Calibri"/>
            </a:endParaRPr>
          </a:p>
          <a:p>
            <a:pPr algn="just" lvl="1" marL="652780" marR="5080" indent="-320040">
              <a:lnSpc>
                <a:spcPct val="101099"/>
              </a:lnSpc>
              <a:spcBef>
                <a:spcPts val="919"/>
              </a:spcBef>
              <a:buFont typeface="Corbel"/>
              <a:buChar char="–"/>
              <a:tabLst>
                <a:tab pos="652780" algn="l"/>
              </a:tabLst>
            </a:pP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Humans</a:t>
            </a:r>
            <a:r>
              <a:rPr dirty="0" sz="1800" spc="280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do</a:t>
            </a:r>
            <a:r>
              <a:rPr dirty="0" sz="1800" spc="295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not</a:t>
            </a:r>
            <a:r>
              <a:rPr dirty="0" sz="1800" spc="265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like</a:t>
            </a:r>
            <a:r>
              <a:rPr dirty="0" sz="1800" spc="275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to</a:t>
            </a:r>
            <a:r>
              <a:rPr dirty="0" sz="1800" spc="295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deal</a:t>
            </a:r>
            <a:r>
              <a:rPr dirty="0" sz="1800" spc="280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in</a:t>
            </a:r>
            <a:r>
              <a:rPr dirty="0" sz="1800" spc="300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numbers</a:t>
            </a:r>
            <a:r>
              <a:rPr dirty="0" sz="1800" spc="275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 spc="-20">
                <a:solidFill>
                  <a:srgbClr val="5A4D5A"/>
                </a:solidFill>
                <a:latin typeface="Calibri"/>
                <a:cs typeface="Calibri"/>
              </a:rPr>
              <a:t>alone-</a:t>
            </a: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they</a:t>
            </a:r>
            <a:r>
              <a:rPr dirty="0" sz="1800" spc="285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prefer</a:t>
            </a:r>
            <a:r>
              <a:rPr dirty="0" sz="1800" spc="280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letters</a:t>
            </a:r>
            <a:r>
              <a:rPr dirty="0" sz="1800" spc="254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and</a:t>
            </a:r>
            <a:r>
              <a:rPr dirty="0" sz="1800" spc="260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words.</a:t>
            </a:r>
            <a:r>
              <a:rPr dirty="0" sz="1800" spc="285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 spc="-20">
                <a:solidFill>
                  <a:srgbClr val="5A4D5A"/>
                </a:solidFill>
                <a:latin typeface="Calibri"/>
                <a:cs typeface="Calibri"/>
              </a:rPr>
              <a:t>But, </a:t>
            </a: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strictly</a:t>
            </a:r>
            <a:r>
              <a:rPr dirty="0" sz="1800" spc="-60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speaking,</a:t>
            </a:r>
            <a:r>
              <a:rPr dirty="0" sz="1800" spc="-30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numbers</a:t>
            </a:r>
            <a:r>
              <a:rPr dirty="0" sz="1800" spc="-40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are</a:t>
            </a:r>
            <a:r>
              <a:rPr dirty="0" sz="1800" spc="-70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what</a:t>
            </a:r>
            <a:r>
              <a:rPr dirty="0" sz="1800" spc="-75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machine</a:t>
            </a:r>
            <a:r>
              <a:rPr dirty="0" sz="1800" spc="-45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language</a:t>
            </a:r>
            <a:r>
              <a:rPr dirty="0" sz="1800" spc="-25">
                <a:solidFill>
                  <a:srgbClr val="5A4D5A"/>
                </a:solidFill>
                <a:latin typeface="Calibri"/>
                <a:cs typeface="Calibri"/>
              </a:rPr>
              <a:t> is.</a:t>
            </a:r>
            <a:endParaRPr sz="1800">
              <a:latin typeface="Calibri"/>
              <a:cs typeface="Calibri"/>
            </a:endParaRPr>
          </a:p>
          <a:p>
            <a:pPr algn="just" lvl="1" marL="652780" marR="5080" indent="-320040">
              <a:lnSpc>
                <a:spcPct val="101200"/>
              </a:lnSpc>
              <a:spcBef>
                <a:spcPts val="890"/>
              </a:spcBef>
              <a:buFont typeface="Corbel"/>
              <a:buChar char="–"/>
              <a:tabLst>
                <a:tab pos="652780" algn="l"/>
              </a:tabLst>
            </a:pP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This</a:t>
            </a:r>
            <a:r>
              <a:rPr dirty="0" sz="1800" spc="459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lowest</a:t>
            </a:r>
            <a:r>
              <a:rPr dirty="0" sz="1800" spc="490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level</a:t>
            </a:r>
            <a:r>
              <a:rPr dirty="0" sz="1800" spc="459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of</a:t>
            </a:r>
            <a:r>
              <a:rPr dirty="0" sz="1800" spc="495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language,</a:t>
            </a:r>
            <a:r>
              <a:rPr dirty="0" sz="1800" spc="55">
                <a:solidFill>
                  <a:srgbClr val="5A4D5A"/>
                </a:solidFill>
                <a:latin typeface="Calibri"/>
                <a:cs typeface="Calibri"/>
              </a:rPr>
              <a:t>  </a:t>
            </a: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machine</a:t>
            </a:r>
            <a:r>
              <a:rPr dirty="0" sz="1800" spc="480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language,</a:t>
            </a:r>
            <a:r>
              <a:rPr dirty="0" sz="1800" spc="480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represents</a:t>
            </a:r>
            <a:r>
              <a:rPr dirty="0" sz="1800" spc="484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data</a:t>
            </a:r>
            <a:r>
              <a:rPr dirty="0" sz="1800" spc="465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and</a:t>
            </a:r>
            <a:r>
              <a:rPr dirty="0" sz="1800" spc="45">
                <a:solidFill>
                  <a:srgbClr val="5A4D5A"/>
                </a:solidFill>
                <a:latin typeface="Calibri"/>
                <a:cs typeface="Calibri"/>
              </a:rPr>
              <a:t>  </a:t>
            </a:r>
            <a:r>
              <a:rPr dirty="0" sz="1800" spc="-10">
                <a:solidFill>
                  <a:srgbClr val="5A4D5A"/>
                </a:solidFill>
                <a:latin typeface="Calibri"/>
                <a:cs typeface="Calibri"/>
              </a:rPr>
              <a:t>program </a:t>
            </a: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instructions</a:t>
            </a:r>
            <a:r>
              <a:rPr dirty="0" sz="1800" spc="330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as</a:t>
            </a:r>
            <a:r>
              <a:rPr dirty="0" sz="1800" spc="325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1s</a:t>
            </a:r>
            <a:r>
              <a:rPr dirty="0" sz="1800" spc="325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and</a:t>
            </a:r>
            <a:r>
              <a:rPr dirty="0" sz="1800" spc="325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0s</a:t>
            </a:r>
            <a:r>
              <a:rPr dirty="0" sz="1800" spc="350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binary</a:t>
            </a:r>
            <a:r>
              <a:rPr dirty="0" sz="1800" spc="340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digits</a:t>
            </a:r>
            <a:r>
              <a:rPr dirty="0" sz="1800" spc="325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corresponding</a:t>
            </a:r>
            <a:r>
              <a:rPr dirty="0" sz="1800" spc="340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to</a:t>
            </a:r>
            <a:r>
              <a:rPr dirty="0" sz="1800" spc="345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the</a:t>
            </a:r>
            <a:r>
              <a:rPr dirty="0" sz="1800" spc="330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on</a:t>
            </a:r>
            <a:r>
              <a:rPr dirty="0" sz="1800" spc="320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and</a:t>
            </a:r>
            <a:r>
              <a:rPr dirty="0" sz="1800" spc="325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off</a:t>
            </a:r>
            <a:r>
              <a:rPr dirty="0" sz="1800" spc="335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5A4D5A"/>
                </a:solidFill>
                <a:latin typeface="Calibri"/>
                <a:cs typeface="Calibri"/>
              </a:rPr>
              <a:t>electrical states</a:t>
            </a:r>
            <a:r>
              <a:rPr dirty="0" sz="1800" spc="-15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in</a:t>
            </a:r>
            <a:r>
              <a:rPr dirty="0" sz="1800" spc="-30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the</a:t>
            </a:r>
            <a:r>
              <a:rPr dirty="0" sz="1800" spc="-40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5A4D5A"/>
                </a:solidFill>
                <a:latin typeface="Calibri"/>
                <a:cs typeface="Calibri"/>
              </a:rPr>
              <a:t>computer.</a:t>
            </a:r>
            <a:endParaRPr sz="1800">
              <a:latin typeface="Calibri"/>
              <a:cs typeface="Calibri"/>
            </a:endParaRPr>
          </a:p>
          <a:p>
            <a:pPr algn="just" lvl="1" marL="653415" indent="-320675">
              <a:lnSpc>
                <a:spcPct val="100000"/>
              </a:lnSpc>
              <a:spcBef>
                <a:spcPts val="910"/>
              </a:spcBef>
              <a:buFont typeface="Corbel"/>
              <a:buChar char="–"/>
              <a:tabLst>
                <a:tab pos="653415" algn="l"/>
              </a:tabLst>
            </a:pP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Each</a:t>
            </a:r>
            <a:r>
              <a:rPr dirty="0" sz="1800" spc="245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type</a:t>
            </a:r>
            <a:r>
              <a:rPr dirty="0" sz="1800" spc="250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of</a:t>
            </a:r>
            <a:r>
              <a:rPr dirty="0" sz="1800" spc="250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computer</a:t>
            </a:r>
            <a:r>
              <a:rPr dirty="0" sz="1800" spc="285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has</a:t>
            </a:r>
            <a:r>
              <a:rPr dirty="0" sz="1800" spc="250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its</a:t>
            </a:r>
            <a:r>
              <a:rPr dirty="0" sz="1800" spc="270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machine</a:t>
            </a:r>
            <a:r>
              <a:rPr dirty="0" sz="1800" spc="265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language.</a:t>
            </a:r>
            <a:r>
              <a:rPr dirty="0" sz="1800" spc="254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In</a:t>
            </a:r>
            <a:r>
              <a:rPr dirty="0" sz="1800" spc="245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the</a:t>
            </a:r>
            <a:r>
              <a:rPr dirty="0" sz="1800" spc="270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early</a:t>
            </a:r>
            <a:r>
              <a:rPr dirty="0" sz="1800" spc="265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days</a:t>
            </a:r>
            <a:r>
              <a:rPr dirty="0" sz="1800" spc="245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of</a:t>
            </a:r>
            <a:r>
              <a:rPr dirty="0" sz="1800" spc="260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5A4D5A"/>
                </a:solidFill>
                <a:latin typeface="Calibri"/>
                <a:cs typeface="Calibri"/>
              </a:rPr>
              <a:t>computing,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3653409" y="4765929"/>
            <a:ext cx="797369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426845" algn="l"/>
                <a:tab pos="1939289" algn="l"/>
                <a:tab pos="3259454" algn="l"/>
                <a:tab pos="4152265" algn="l"/>
                <a:tab pos="4579620" algn="l"/>
                <a:tab pos="5716905" algn="l"/>
                <a:tab pos="6704330" algn="l"/>
                <a:tab pos="7061200" algn="l"/>
              </a:tabLst>
            </a:pPr>
            <a:r>
              <a:rPr dirty="0" sz="1800" spc="-10">
                <a:solidFill>
                  <a:srgbClr val="5A4D5A"/>
                </a:solidFill>
                <a:latin typeface="Calibri"/>
                <a:cs typeface="Calibri"/>
              </a:rPr>
              <a:t>programmers</a:t>
            </a: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	</a:t>
            </a:r>
            <a:r>
              <a:rPr dirty="0" sz="1800" spc="-25">
                <a:solidFill>
                  <a:srgbClr val="5A4D5A"/>
                </a:solidFill>
                <a:latin typeface="Calibri"/>
                <a:cs typeface="Calibri"/>
              </a:rPr>
              <a:t>had</a:t>
            </a: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	</a:t>
            </a:r>
            <a:r>
              <a:rPr dirty="0" sz="1800" spc="-10">
                <a:solidFill>
                  <a:srgbClr val="5A4D5A"/>
                </a:solidFill>
                <a:latin typeface="Calibri"/>
                <a:cs typeface="Calibri"/>
              </a:rPr>
              <a:t>rudimentary</a:t>
            </a: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	</a:t>
            </a:r>
            <a:r>
              <a:rPr dirty="0" sz="1800" spc="-10">
                <a:solidFill>
                  <a:srgbClr val="5A4D5A"/>
                </a:solidFill>
                <a:latin typeface="Calibri"/>
                <a:cs typeface="Calibri"/>
              </a:rPr>
              <a:t>systems</a:t>
            </a: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	</a:t>
            </a:r>
            <a:r>
              <a:rPr dirty="0" sz="1800" spc="-25">
                <a:solidFill>
                  <a:srgbClr val="5A4D5A"/>
                </a:solidFill>
                <a:latin typeface="Calibri"/>
                <a:cs typeface="Calibri"/>
              </a:rPr>
              <a:t>for</a:t>
            </a: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	</a:t>
            </a:r>
            <a:r>
              <a:rPr dirty="0" sz="1800" spc="-10">
                <a:solidFill>
                  <a:srgbClr val="5A4D5A"/>
                </a:solidFill>
                <a:latin typeface="Calibri"/>
                <a:cs typeface="Calibri"/>
              </a:rPr>
              <a:t>combining</a:t>
            </a: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	</a:t>
            </a:r>
            <a:r>
              <a:rPr dirty="0" sz="1800" spc="-10">
                <a:solidFill>
                  <a:srgbClr val="5A4D5A"/>
                </a:solidFill>
                <a:latin typeface="Calibri"/>
                <a:cs typeface="Calibri"/>
              </a:rPr>
              <a:t>numbers</a:t>
            </a: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	</a:t>
            </a:r>
            <a:r>
              <a:rPr dirty="0" sz="1800" spc="-25">
                <a:solidFill>
                  <a:srgbClr val="5A4D5A"/>
                </a:solidFill>
                <a:latin typeface="Calibri"/>
                <a:cs typeface="Calibri"/>
              </a:rPr>
              <a:t>to</a:t>
            </a: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	</a:t>
            </a:r>
            <a:r>
              <a:rPr dirty="0" sz="1800" spc="-10">
                <a:solidFill>
                  <a:srgbClr val="5A4D5A"/>
                </a:solidFill>
                <a:latin typeface="Calibri"/>
                <a:cs typeface="Calibri"/>
              </a:rPr>
              <a:t>represent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3333369" y="4927142"/>
            <a:ext cx="8291830" cy="1083945"/>
          </a:xfrm>
          <a:prstGeom prst="rect">
            <a:avLst/>
          </a:prstGeom>
        </p:spPr>
        <p:txBody>
          <a:bodyPr wrap="square" lIns="0" tIns="128905" rIns="0" bIns="0" rtlCol="0" vert="horz">
            <a:spAutoFit/>
          </a:bodyPr>
          <a:lstStyle/>
          <a:p>
            <a:pPr marL="332105">
              <a:lnSpc>
                <a:spcPct val="100000"/>
              </a:lnSpc>
              <a:spcBef>
                <a:spcPts val="1015"/>
              </a:spcBef>
            </a:pP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instructions</a:t>
            </a:r>
            <a:r>
              <a:rPr dirty="0" sz="1800" spc="-10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such</a:t>
            </a:r>
            <a:r>
              <a:rPr dirty="0" sz="1800" spc="-15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as</a:t>
            </a:r>
            <a:r>
              <a:rPr dirty="0" sz="1800" spc="-50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add</a:t>
            </a:r>
            <a:r>
              <a:rPr dirty="0" sz="1800" spc="-35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and</a:t>
            </a:r>
            <a:r>
              <a:rPr dirty="0" sz="1800" spc="-35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5A4D5A"/>
                </a:solidFill>
                <a:latin typeface="Calibri"/>
                <a:cs typeface="Calibri"/>
              </a:rPr>
              <a:t>compare.</a:t>
            </a:r>
            <a:endParaRPr sz="1800">
              <a:latin typeface="Calibri"/>
              <a:cs typeface="Calibri"/>
            </a:endParaRPr>
          </a:p>
          <a:p>
            <a:pPr marL="332105" marR="5080" indent="-320040">
              <a:lnSpc>
                <a:spcPct val="101099"/>
              </a:lnSpc>
              <a:spcBef>
                <a:spcPts val="890"/>
              </a:spcBef>
              <a:tabLst>
                <a:tab pos="332105" algn="l"/>
              </a:tabLst>
            </a:pPr>
            <a:r>
              <a:rPr dirty="0" sz="1800" spc="-50">
                <a:solidFill>
                  <a:srgbClr val="5A4D5A"/>
                </a:solidFill>
                <a:latin typeface="Corbel"/>
                <a:cs typeface="Corbel"/>
              </a:rPr>
              <a:t>–</a:t>
            </a:r>
            <a:r>
              <a:rPr dirty="0" sz="1800">
                <a:solidFill>
                  <a:srgbClr val="5A4D5A"/>
                </a:solidFill>
                <a:latin typeface="Corbel"/>
                <a:cs typeface="Corbel"/>
              </a:rPr>
              <a:t>	</a:t>
            </a: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Primitive</a:t>
            </a:r>
            <a:r>
              <a:rPr dirty="0" sz="1800" spc="-5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by</a:t>
            </a:r>
            <a:r>
              <a:rPr dirty="0" sz="1800" spc="5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today's standards,</a:t>
            </a:r>
            <a:r>
              <a:rPr dirty="0" sz="1800" spc="10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the</a:t>
            </a:r>
            <a:r>
              <a:rPr dirty="0" sz="1800" spc="20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programs</a:t>
            </a:r>
            <a:r>
              <a:rPr dirty="0" sz="1800" spc="25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were</a:t>
            </a:r>
            <a:r>
              <a:rPr dirty="0" sz="1800" spc="-5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not convenient</a:t>
            </a:r>
            <a:r>
              <a:rPr dirty="0" sz="1800" spc="10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for</a:t>
            </a:r>
            <a:r>
              <a:rPr dirty="0" sz="1800" spc="5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people</a:t>
            </a:r>
            <a:r>
              <a:rPr dirty="0" sz="1800" spc="20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to</a:t>
            </a:r>
            <a:r>
              <a:rPr dirty="0" sz="1800" spc="15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 spc="-20">
                <a:solidFill>
                  <a:srgbClr val="5A4D5A"/>
                </a:solidFill>
                <a:latin typeface="Calibri"/>
                <a:cs typeface="Calibri"/>
              </a:rPr>
              <a:t>read </a:t>
            </a: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and</a:t>
            </a:r>
            <a:r>
              <a:rPr dirty="0" sz="1800" spc="-55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use.</a:t>
            </a:r>
            <a:r>
              <a:rPr dirty="0" sz="1800" spc="-45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The</a:t>
            </a:r>
            <a:r>
              <a:rPr dirty="0" sz="1800" spc="-55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computer</a:t>
            </a:r>
            <a:r>
              <a:rPr dirty="0" sz="1800" spc="-25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industry</a:t>
            </a:r>
            <a:r>
              <a:rPr dirty="0" sz="1800" spc="-5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quickly</a:t>
            </a:r>
            <a:r>
              <a:rPr dirty="0" sz="1800" spc="-45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moved</a:t>
            </a:r>
            <a:r>
              <a:rPr dirty="0" sz="1800" spc="-70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to</a:t>
            </a:r>
            <a:r>
              <a:rPr dirty="0" sz="1800" spc="-55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develop</a:t>
            </a:r>
            <a:r>
              <a:rPr dirty="0" sz="1800" spc="-35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assembly</a:t>
            </a:r>
            <a:r>
              <a:rPr dirty="0" sz="1800" spc="-30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5A4D5A"/>
                </a:solidFill>
                <a:latin typeface="Calibri"/>
                <a:cs typeface="Calibri"/>
              </a:rPr>
              <a:t>languages.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8575" rIns="0" bIns="0" rtlCol="0" vert="horz">
            <a:spAutoFit/>
          </a:bodyPr>
          <a:lstStyle/>
          <a:p>
            <a:pPr marL="433705" marR="5080">
              <a:lnSpc>
                <a:spcPts val="5240"/>
              </a:lnSpc>
              <a:spcBef>
                <a:spcPts val="225"/>
              </a:spcBef>
            </a:pPr>
            <a:r>
              <a:rPr dirty="0"/>
              <a:t>Level</a:t>
            </a:r>
            <a:r>
              <a:rPr dirty="0" spc="-65"/>
              <a:t> </a:t>
            </a:r>
            <a:r>
              <a:rPr dirty="0"/>
              <a:t>of</a:t>
            </a:r>
            <a:r>
              <a:rPr dirty="0" spc="-70"/>
              <a:t> </a:t>
            </a:r>
            <a:r>
              <a:rPr dirty="0" spc="-10"/>
              <a:t>Programming Languages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3013075" y="2330362"/>
            <a:ext cx="8616315" cy="3583940"/>
          </a:xfrm>
          <a:prstGeom prst="rect">
            <a:avLst/>
          </a:prstGeom>
        </p:spPr>
        <p:txBody>
          <a:bodyPr wrap="square" lIns="0" tIns="114935" rIns="0" bIns="0" rtlCol="0" vert="horz">
            <a:spAutoFit/>
          </a:bodyPr>
          <a:lstStyle/>
          <a:p>
            <a:pPr algn="just" marL="329565" indent="-316865">
              <a:lnSpc>
                <a:spcPct val="100000"/>
              </a:lnSpc>
              <a:spcBef>
                <a:spcPts val="905"/>
              </a:spcBef>
              <a:buFont typeface="Corbel"/>
              <a:buChar char="–"/>
              <a:tabLst>
                <a:tab pos="329565" algn="l"/>
              </a:tabLst>
            </a:pPr>
            <a:r>
              <a:rPr dirty="0" sz="1900">
                <a:solidFill>
                  <a:srgbClr val="5A4D5A"/>
                </a:solidFill>
                <a:latin typeface="Calibri"/>
                <a:cs typeface="Calibri"/>
              </a:rPr>
              <a:t>Assembly</a:t>
            </a:r>
            <a:r>
              <a:rPr dirty="0" sz="1900" spc="-55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900" spc="-10">
                <a:solidFill>
                  <a:srgbClr val="5A4D5A"/>
                </a:solidFill>
                <a:latin typeface="Calibri"/>
                <a:cs typeface="Calibri"/>
              </a:rPr>
              <a:t>languages</a:t>
            </a:r>
            <a:endParaRPr sz="1900">
              <a:latin typeface="Calibri"/>
              <a:cs typeface="Calibri"/>
            </a:endParaRPr>
          </a:p>
          <a:p>
            <a:pPr algn="just" lvl="1" marL="650240" marR="7620" indent="-317500">
              <a:lnSpc>
                <a:spcPts val="1850"/>
              </a:lnSpc>
              <a:spcBef>
                <a:spcPts val="950"/>
              </a:spcBef>
              <a:buFont typeface="Corbel"/>
              <a:buChar char="–"/>
              <a:tabLst>
                <a:tab pos="652780" algn="l"/>
              </a:tabLst>
            </a:pPr>
            <a:r>
              <a:rPr dirty="0" sz="1700">
                <a:solidFill>
                  <a:srgbClr val="5A4D5A"/>
                </a:solidFill>
                <a:latin typeface="Calibri"/>
                <a:cs typeface="Calibri"/>
              </a:rPr>
              <a:t>Assembly</a:t>
            </a:r>
            <a:r>
              <a:rPr dirty="0" sz="1700" spc="95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5A4D5A"/>
                </a:solidFill>
                <a:latin typeface="Calibri"/>
                <a:cs typeface="Calibri"/>
              </a:rPr>
              <a:t>languages</a:t>
            </a:r>
            <a:r>
              <a:rPr dirty="0" sz="1700" spc="90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5A4D5A"/>
                </a:solidFill>
                <a:latin typeface="Calibri"/>
                <a:cs typeface="Calibri"/>
              </a:rPr>
              <a:t>are</a:t>
            </a:r>
            <a:r>
              <a:rPr dirty="0" sz="1700" spc="100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5A4D5A"/>
                </a:solidFill>
                <a:latin typeface="Calibri"/>
                <a:cs typeface="Calibri"/>
              </a:rPr>
              <a:t>considered</a:t>
            </a:r>
            <a:r>
              <a:rPr dirty="0" sz="1700" spc="90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5A4D5A"/>
                </a:solidFill>
                <a:latin typeface="Calibri"/>
                <a:cs typeface="Calibri"/>
              </a:rPr>
              <a:t>very</a:t>
            </a:r>
            <a:r>
              <a:rPr dirty="0" sz="1700" spc="105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5A4D5A"/>
                </a:solidFill>
                <a:latin typeface="Calibri"/>
                <a:cs typeface="Calibri"/>
              </a:rPr>
              <a:t>low</a:t>
            </a:r>
            <a:r>
              <a:rPr dirty="0" sz="1700" spc="100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700" spc="-10">
                <a:solidFill>
                  <a:srgbClr val="5A4D5A"/>
                </a:solidFill>
                <a:latin typeface="Calibri"/>
                <a:cs typeface="Calibri"/>
              </a:rPr>
              <a:t>level-</a:t>
            </a:r>
            <a:r>
              <a:rPr dirty="0" sz="1700">
                <a:solidFill>
                  <a:srgbClr val="5A4D5A"/>
                </a:solidFill>
                <a:latin typeface="Calibri"/>
                <a:cs typeface="Calibri"/>
              </a:rPr>
              <a:t>that</a:t>
            </a:r>
            <a:r>
              <a:rPr dirty="0" sz="1700" spc="110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5A4D5A"/>
                </a:solidFill>
                <a:latin typeface="Calibri"/>
                <a:cs typeface="Calibri"/>
              </a:rPr>
              <a:t>is,</a:t>
            </a:r>
            <a:r>
              <a:rPr dirty="0" sz="1700" spc="100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5A4D5A"/>
                </a:solidFill>
                <a:latin typeface="Calibri"/>
                <a:cs typeface="Calibri"/>
              </a:rPr>
              <a:t>they</a:t>
            </a:r>
            <a:r>
              <a:rPr dirty="0" sz="1700" spc="85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5A4D5A"/>
                </a:solidFill>
                <a:latin typeface="Calibri"/>
                <a:cs typeface="Calibri"/>
              </a:rPr>
              <a:t>are</a:t>
            </a:r>
            <a:r>
              <a:rPr dirty="0" sz="1700" spc="100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5A4D5A"/>
                </a:solidFill>
                <a:latin typeface="Calibri"/>
                <a:cs typeface="Calibri"/>
              </a:rPr>
              <a:t>not</a:t>
            </a:r>
            <a:r>
              <a:rPr dirty="0" sz="1700" spc="95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5A4D5A"/>
                </a:solidFill>
                <a:latin typeface="Calibri"/>
                <a:cs typeface="Calibri"/>
              </a:rPr>
              <a:t>as</a:t>
            </a:r>
            <a:r>
              <a:rPr dirty="0" sz="1700" spc="114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5A4D5A"/>
                </a:solidFill>
                <a:latin typeface="Calibri"/>
                <a:cs typeface="Calibri"/>
              </a:rPr>
              <a:t>convenient</a:t>
            </a:r>
            <a:r>
              <a:rPr dirty="0" sz="1700" spc="120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700" spc="-25">
                <a:solidFill>
                  <a:srgbClr val="5A4D5A"/>
                </a:solidFill>
                <a:latin typeface="Calibri"/>
                <a:cs typeface="Calibri"/>
              </a:rPr>
              <a:t>for </a:t>
            </a:r>
            <a:r>
              <a:rPr dirty="0" sz="1700" spc="-25">
                <a:solidFill>
                  <a:srgbClr val="5A4D5A"/>
                </a:solidFill>
                <a:latin typeface="Calibri"/>
                <a:cs typeface="Calibri"/>
              </a:rPr>
              <a:t>	</a:t>
            </a:r>
            <a:r>
              <a:rPr dirty="0" sz="1700">
                <a:solidFill>
                  <a:srgbClr val="5A4D5A"/>
                </a:solidFill>
                <a:latin typeface="Calibri"/>
                <a:cs typeface="Calibri"/>
              </a:rPr>
              <a:t>people</a:t>
            </a:r>
            <a:r>
              <a:rPr dirty="0" sz="1700" spc="-15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5A4D5A"/>
                </a:solidFill>
                <a:latin typeface="Calibri"/>
                <a:cs typeface="Calibri"/>
              </a:rPr>
              <a:t>to</a:t>
            </a:r>
            <a:r>
              <a:rPr dirty="0" sz="1700" spc="-40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5A4D5A"/>
                </a:solidFill>
                <a:latin typeface="Calibri"/>
                <a:cs typeface="Calibri"/>
              </a:rPr>
              <a:t>use</a:t>
            </a:r>
            <a:r>
              <a:rPr dirty="0" sz="1700" spc="-55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5A4D5A"/>
                </a:solidFill>
                <a:latin typeface="Calibri"/>
                <a:cs typeface="Calibri"/>
              </a:rPr>
              <a:t>as</a:t>
            </a:r>
            <a:r>
              <a:rPr dirty="0" sz="1700" spc="-65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5A4D5A"/>
                </a:solidFill>
                <a:latin typeface="Calibri"/>
                <a:cs typeface="Calibri"/>
              </a:rPr>
              <a:t>more</a:t>
            </a:r>
            <a:r>
              <a:rPr dirty="0" sz="1700" spc="-35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5A4D5A"/>
                </a:solidFill>
                <a:latin typeface="Calibri"/>
                <a:cs typeface="Calibri"/>
              </a:rPr>
              <a:t>recent</a:t>
            </a:r>
            <a:r>
              <a:rPr dirty="0" sz="1700" spc="-25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700" spc="-10">
                <a:solidFill>
                  <a:srgbClr val="5A4D5A"/>
                </a:solidFill>
                <a:latin typeface="Calibri"/>
                <a:cs typeface="Calibri"/>
              </a:rPr>
              <a:t>languages.</a:t>
            </a:r>
            <a:endParaRPr sz="1700">
              <a:latin typeface="Calibri"/>
              <a:cs typeface="Calibri"/>
            </a:endParaRPr>
          </a:p>
          <a:p>
            <a:pPr algn="just" lvl="1" marL="650875" marR="5080" indent="-318135">
              <a:lnSpc>
                <a:spcPct val="91100"/>
              </a:lnSpc>
              <a:spcBef>
                <a:spcPts val="870"/>
              </a:spcBef>
              <a:buFont typeface="Corbel"/>
              <a:buChar char="–"/>
              <a:tabLst>
                <a:tab pos="652780" algn="l"/>
              </a:tabLst>
            </a:pPr>
            <a:r>
              <a:rPr dirty="0" sz="1700">
                <a:solidFill>
                  <a:srgbClr val="5A4D5A"/>
                </a:solidFill>
                <a:latin typeface="Calibri"/>
                <a:cs typeface="Calibri"/>
              </a:rPr>
              <a:t>At the</a:t>
            </a:r>
            <a:r>
              <a:rPr dirty="0" sz="1700" spc="-15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5A4D5A"/>
                </a:solidFill>
                <a:latin typeface="Calibri"/>
                <a:cs typeface="Calibri"/>
              </a:rPr>
              <a:t>time</a:t>
            </a:r>
            <a:r>
              <a:rPr dirty="0" sz="1700" spc="-5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5A4D5A"/>
                </a:solidFill>
                <a:latin typeface="Calibri"/>
                <a:cs typeface="Calibri"/>
              </a:rPr>
              <a:t>they</a:t>
            </a:r>
            <a:r>
              <a:rPr dirty="0" sz="1700" spc="15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5A4D5A"/>
                </a:solidFill>
                <a:latin typeface="Calibri"/>
                <a:cs typeface="Calibri"/>
              </a:rPr>
              <a:t>were</a:t>
            </a:r>
            <a:r>
              <a:rPr dirty="0" sz="1700" spc="-5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5A4D5A"/>
                </a:solidFill>
                <a:latin typeface="Calibri"/>
                <a:cs typeface="Calibri"/>
              </a:rPr>
              <a:t>developed,</a:t>
            </a:r>
            <a:r>
              <a:rPr dirty="0" sz="1700" spc="30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700" spc="-20">
                <a:solidFill>
                  <a:srgbClr val="5A4D5A"/>
                </a:solidFill>
                <a:latin typeface="Calibri"/>
                <a:cs typeface="Calibri"/>
              </a:rPr>
              <a:t>however,</a:t>
            </a:r>
            <a:r>
              <a:rPr dirty="0" sz="1700" spc="-5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5A4D5A"/>
                </a:solidFill>
                <a:latin typeface="Calibri"/>
                <a:cs typeface="Calibri"/>
              </a:rPr>
              <a:t>they</a:t>
            </a:r>
            <a:r>
              <a:rPr dirty="0" sz="1700" spc="-5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5A4D5A"/>
                </a:solidFill>
                <a:latin typeface="Calibri"/>
                <a:cs typeface="Calibri"/>
              </a:rPr>
              <a:t>were</a:t>
            </a:r>
            <a:r>
              <a:rPr dirty="0" sz="1700" spc="5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5A4D5A"/>
                </a:solidFill>
                <a:latin typeface="Calibri"/>
                <a:cs typeface="Calibri"/>
              </a:rPr>
              <a:t>considered a great</a:t>
            </a:r>
            <a:r>
              <a:rPr dirty="0" sz="1700" spc="5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5A4D5A"/>
                </a:solidFill>
                <a:latin typeface="Calibri"/>
                <a:cs typeface="Calibri"/>
              </a:rPr>
              <a:t>leap</a:t>
            </a:r>
            <a:r>
              <a:rPr dirty="0" sz="1700" spc="-10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5A4D5A"/>
                </a:solidFill>
                <a:latin typeface="Calibri"/>
                <a:cs typeface="Calibri"/>
              </a:rPr>
              <a:t>forward. </a:t>
            </a:r>
            <a:r>
              <a:rPr dirty="0" sz="1700" spc="-25">
                <a:solidFill>
                  <a:srgbClr val="5A4D5A"/>
                </a:solidFill>
                <a:latin typeface="Calibri"/>
                <a:cs typeface="Calibri"/>
              </a:rPr>
              <a:t>To </a:t>
            </a:r>
            <a:r>
              <a:rPr dirty="0" sz="1700" spc="-25">
                <a:solidFill>
                  <a:srgbClr val="5A4D5A"/>
                </a:solidFill>
                <a:latin typeface="Calibri"/>
                <a:cs typeface="Calibri"/>
              </a:rPr>
              <a:t>	</a:t>
            </a:r>
            <a:r>
              <a:rPr dirty="0" sz="1700">
                <a:solidFill>
                  <a:srgbClr val="5A4D5A"/>
                </a:solidFill>
                <a:latin typeface="Calibri"/>
                <a:cs typeface="Calibri"/>
              </a:rPr>
              <a:t>replace</a:t>
            </a:r>
            <a:r>
              <a:rPr dirty="0" sz="1700" spc="335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5A4D5A"/>
                </a:solidFill>
                <a:latin typeface="Calibri"/>
                <a:cs typeface="Calibri"/>
              </a:rPr>
              <a:t>the</a:t>
            </a:r>
            <a:r>
              <a:rPr dirty="0" sz="1700" spc="365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5A4D5A"/>
                </a:solidFill>
                <a:latin typeface="Calibri"/>
                <a:cs typeface="Calibri"/>
              </a:rPr>
              <a:t>1s</a:t>
            </a:r>
            <a:r>
              <a:rPr dirty="0" sz="1700" spc="350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5A4D5A"/>
                </a:solidFill>
                <a:latin typeface="Calibri"/>
                <a:cs typeface="Calibri"/>
              </a:rPr>
              <a:t>and</a:t>
            </a:r>
            <a:r>
              <a:rPr dirty="0" sz="1700" spc="340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5A4D5A"/>
                </a:solidFill>
                <a:latin typeface="Calibri"/>
                <a:cs typeface="Calibri"/>
              </a:rPr>
              <a:t>0s</a:t>
            </a:r>
            <a:r>
              <a:rPr dirty="0" sz="1700" spc="370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5A4D5A"/>
                </a:solidFill>
                <a:latin typeface="Calibri"/>
                <a:cs typeface="Calibri"/>
              </a:rPr>
              <a:t>used</a:t>
            </a:r>
            <a:r>
              <a:rPr dirty="0" sz="1700" spc="340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5A4D5A"/>
                </a:solidFill>
                <a:latin typeface="Calibri"/>
                <a:cs typeface="Calibri"/>
              </a:rPr>
              <a:t>in</a:t>
            </a:r>
            <a:r>
              <a:rPr dirty="0" sz="1700" spc="360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5A4D5A"/>
                </a:solidFill>
                <a:latin typeface="Calibri"/>
                <a:cs typeface="Calibri"/>
              </a:rPr>
              <a:t>machine</a:t>
            </a:r>
            <a:r>
              <a:rPr dirty="0" sz="1700" spc="345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5A4D5A"/>
                </a:solidFill>
                <a:latin typeface="Calibri"/>
                <a:cs typeface="Calibri"/>
              </a:rPr>
              <a:t>language,</a:t>
            </a:r>
            <a:r>
              <a:rPr dirty="0" sz="1700" spc="380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5A4D5A"/>
                </a:solidFill>
                <a:latin typeface="Calibri"/>
                <a:cs typeface="Calibri"/>
              </a:rPr>
              <a:t>assembly</a:t>
            </a:r>
            <a:r>
              <a:rPr dirty="0" sz="1700" spc="350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5A4D5A"/>
                </a:solidFill>
                <a:latin typeface="Calibri"/>
                <a:cs typeface="Calibri"/>
              </a:rPr>
              <a:t>languages</a:t>
            </a:r>
            <a:r>
              <a:rPr dirty="0" sz="1700" spc="355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5A4D5A"/>
                </a:solidFill>
                <a:latin typeface="Calibri"/>
                <a:cs typeface="Calibri"/>
              </a:rPr>
              <a:t>use</a:t>
            </a:r>
            <a:r>
              <a:rPr dirty="0" sz="1700" spc="365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700" spc="-10">
                <a:solidFill>
                  <a:srgbClr val="5A4D5A"/>
                </a:solidFill>
                <a:latin typeface="Calibri"/>
                <a:cs typeface="Calibri"/>
              </a:rPr>
              <a:t>mnemonic </a:t>
            </a:r>
            <a:r>
              <a:rPr dirty="0" sz="1700" spc="-10">
                <a:solidFill>
                  <a:srgbClr val="5A4D5A"/>
                </a:solidFill>
                <a:latin typeface="Calibri"/>
                <a:cs typeface="Calibri"/>
              </a:rPr>
              <a:t>	</a:t>
            </a:r>
            <a:r>
              <a:rPr dirty="0" sz="1700">
                <a:solidFill>
                  <a:srgbClr val="5A4D5A"/>
                </a:solidFill>
                <a:latin typeface="Calibri"/>
                <a:cs typeface="Calibri"/>
              </a:rPr>
              <a:t>codes,</a:t>
            </a:r>
            <a:r>
              <a:rPr dirty="0" sz="1700" spc="395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5A4D5A"/>
                </a:solidFill>
                <a:latin typeface="Calibri"/>
                <a:cs typeface="Calibri"/>
              </a:rPr>
              <a:t>abbreviations</a:t>
            </a:r>
            <a:r>
              <a:rPr dirty="0" sz="1700" spc="395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5A4D5A"/>
                </a:solidFill>
                <a:latin typeface="Calibri"/>
                <a:cs typeface="Calibri"/>
              </a:rPr>
              <a:t>that</a:t>
            </a:r>
            <a:r>
              <a:rPr dirty="0" sz="1700" spc="390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5A4D5A"/>
                </a:solidFill>
                <a:latin typeface="Calibri"/>
                <a:cs typeface="Calibri"/>
              </a:rPr>
              <a:t>are</a:t>
            </a:r>
            <a:r>
              <a:rPr dirty="0" sz="1700" spc="375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5A4D5A"/>
                </a:solidFill>
                <a:latin typeface="Calibri"/>
                <a:cs typeface="Calibri"/>
              </a:rPr>
              <a:t>easy</a:t>
            </a:r>
            <a:r>
              <a:rPr dirty="0" sz="1700" spc="385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5A4D5A"/>
                </a:solidFill>
                <a:latin typeface="Calibri"/>
                <a:cs typeface="Calibri"/>
              </a:rPr>
              <a:t>to</a:t>
            </a:r>
            <a:r>
              <a:rPr dirty="0" sz="1700" spc="375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5A4D5A"/>
                </a:solidFill>
                <a:latin typeface="Calibri"/>
                <a:cs typeface="Calibri"/>
              </a:rPr>
              <a:t>remember:</a:t>
            </a:r>
            <a:r>
              <a:rPr dirty="0" sz="1700" spc="380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5A4D5A"/>
                </a:solidFill>
                <a:latin typeface="Calibri"/>
                <a:cs typeface="Calibri"/>
              </a:rPr>
              <a:t>A</a:t>
            </a:r>
            <a:r>
              <a:rPr dirty="0" sz="1700" spc="380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5A4D5A"/>
                </a:solidFill>
                <a:latin typeface="Calibri"/>
                <a:cs typeface="Calibri"/>
              </a:rPr>
              <a:t>for</a:t>
            </a:r>
            <a:r>
              <a:rPr dirty="0" sz="1700" spc="390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5A4D5A"/>
                </a:solidFill>
                <a:latin typeface="Calibri"/>
                <a:cs typeface="Calibri"/>
              </a:rPr>
              <a:t>Add,</a:t>
            </a:r>
            <a:r>
              <a:rPr dirty="0" sz="1700" spc="395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5A4D5A"/>
                </a:solidFill>
                <a:latin typeface="Calibri"/>
                <a:cs typeface="Calibri"/>
              </a:rPr>
              <a:t>C</a:t>
            </a:r>
            <a:r>
              <a:rPr dirty="0" sz="1700" spc="365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5A4D5A"/>
                </a:solidFill>
                <a:latin typeface="Calibri"/>
                <a:cs typeface="Calibri"/>
              </a:rPr>
              <a:t>for</a:t>
            </a:r>
            <a:r>
              <a:rPr dirty="0" sz="1700" spc="390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5A4D5A"/>
                </a:solidFill>
                <a:latin typeface="Calibri"/>
                <a:cs typeface="Calibri"/>
              </a:rPr>
              <a:t>Compare,</a:t>
            </a:r>
            <a:r>
              <a:rPr dirty="0" sz="1700" spc="370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5A4D5A"/>
                </a:solidFill>
                <a:latin typeface="Calibri"/>
                <a:cs typeface="Calibri"/>
              </a:rPr>
              <a:t>MP</a:t>
            </a:r>
            <a:r>
              <a:rPr dirty="0" sz="1700" spc="365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700" spc="-25">
                <a:solidFill>
                  <a:srgbClr val="5A4D5A"/>
                </a:solidFill>
                <a:latin typeface="Calibri"/>
                <a:cs typeface="Calibri"/>
              </a:rPr>
              <a:t>for </a:t>
            </a:r>
            <a:r>
              <a:rPr dirty="0" sz="1700" spc="-25">
                <a:solidFill>
                  <a:srgbClr val="5A4D5A"/>
                </a:solidFill>
                <a:latin typeface="Calibri"/>
                <a:cs typeface="Calibri"/>
              </a:rPr>
              <a:t>	</a:t>
            </a:r>
            <a:r>
              <a:rPr dirty="0" sz="1700" spc="-10">
                <a:solidFill>
                  <a:srgbClr val="5A4D5A"/>
                </a:solidFill>
                <a:latin typeface="Calibri"/>
                <a:cs typeface="Calibri"/>
              </a:rPr>
              <a:t>Multiply,</a:t>
            </a:r>
            <a:r>
              <a:rPr dirty="0" sz="1700" spc="-35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5A4D5A"/>
                </a:solidFill>
                <a:latin typeface="Calibri"/>
                <a:cs typeface="Calibri"/>
              </a:rPr>
              <a:t>STO</a:t>
            </a:r>
            <a:r>
              <a:rPr dirty="0" sz="1700" spc="-90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5A4D5A"/>
                </a:solidFill>
                <a:latin typeface="Calibri"/>
                <a:cs typeface="Calibri"/>
              </a:rPr>
              <a:t>for</a:t>
            </a:r>
            <a:r>
              <a:rPr dirty="0" sz="1700" spc="-40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5A4D5A"/>
                </a:solidFill>
                <a:latin typeface="Calibri"/>
                <a:cs typeface="Calibri"/>
              </a:rPr>
              <a:t>storing</a:t>
            </a:r>
            <a:r>
              <a:rPr dirty="0" sz="1700" spc="-55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700" spc="-10">
                <a:solidFill>
                  <a:srgbClr val="5A4D5A"/>
                </a:solidFill>
                <a:latin typeface="Calibri"/>
                <a:cs typeface="Calibri"/>
              </a:rPr>
              <a:t>information</a:t>
            </a:r>
            <a:r>
              <a:rPr dirty="0" sz="1700" spc="-45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5A4D5A"/>
                </a:solidFill>
                <a:latin typeface="Calibri"/>
                <a:cs typeface="Calibri"/>
              </a:rPr>
              <a:t>in</a:t>
            </a:r>
            <a:r>
              <a:rPr dirty="0" sz="1700" spc="-55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700" spc="-10">
                <a:solidFill>
                  <a:srgbClr val="5A4D5A"/>
                </a:solidFill>
                <a:latin typeface="Calibri"/>
                <a:cs typeface="Calibri"/>
              </a:rPr>
              <a:t>memory,</a:t>
            </a:r>
            <a:r>
              <a:rPr dirty="0" sz="1700" spc="-15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5A4D5A"/>
                </a:solidFill>
                <a:latin typeface="Calibri"/>
                <a:cs typeface="Calibri"/>
              </a:rPr>
              <a:t>and</a:t>
            </a:r>
            <a:r>
              <a:rPr dirty="0" sz="1700" spc="-60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5A4D5A"/>
                </a:solidFill>
                <a:latin typeface="Calibri"/>
                <a:cs typeface="Calibri"/>
              </a:rPr>
              <a:t>so</a:t>
            </a:r>
            <a:r>
              <a:rPr dirty="0" sz="1700" spc="-60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700" spc="-25">
                <a:solidFill>
                  <a:srgbClr val="5A4D5A"/>
                </a:solidFill>
                <a:latin typeface="Calibri"/>
                <a:cs typeface="Calibri"/>
              </a:rPr>
              <a:t>on.</a:t>
            </a:r>
            <a:endParaRPr sz="1700">
              <a:latin typeface="Calibri"/>
              <a:cs typeface="Calibri"/>
            </a:endParaRPr>
          </a:p>
          <a:p>
            <a:pPr algn="just" lvl="1" marL="650240" indent="-317500">
              <a:lnSpc>
                <a:spcPts val="1945"/>
              </a:lnSpc>
              <a:spcBef>
                <a:spcPts val="720"/>
              </a:spcBef>
              <a:buFont typeface="Corbel"/>
              <a:buChar char="–"/>
              <a:tabLst>
                <a:tab pos="650240" algn="l"/>
              </a:tabLst>
            </a:pPr>
            <a:r>
              <a:rPr dirty="0" sz="1700">
                <a:solidFill>
                  <a:srgbClr val="5A4D5A"/>
                </a:solidFill>
                <a:latin typeface="Calibri"/>
                <a:cs typeface="Calibri"/>
              </a:rPr>
              <a:t>Although</a:t>
            </a:r>
            <a:r>
              <a:rPr dirty="0" sz="1700" spc="75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5A4D5A"/>
                </a:solidFill>
                <a:latin typeface="Calibri"/>
                <a:cs typeface="Calibri"/>
              </a:rPr>
              <a:t>these</a:t>
            </a:r>
            <a:r>
              <a:rPr dirty="0" sz="1700" spc="100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5A4D5A"/>
                </a:solidFill>
                <a:latin typeface="Calibri"/>
                <a:cs typeface="Calibri"/>
              </a:rPr>
              <a:t>codes</a:t>
            </a:r>
            <a:r>
              <a:rPr dirty="0" sz="1700" spc="95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5A4D5A"/>
                </a:solidFill>
                <a:latin typeface="Calibri"/>
                <a:cs typeface="Calibri"/>
              </a:rPr>
              <a:t>are</a:t>
            </a:r>
            <a:r>
              <a:rPr dirty="0" sz="1700" spc="80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5A4D5A"/>
                </a:solidFill>
                <a:latin typeface="Calibri"/>
                <a:cs typeface="Calibri"/>
              </a:rPr>
              <a:t>not</a:t>
            </a:r>
            <a:r>
              <a:rPr dirty="0" sz="1700" spc="90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5A4D5A"/>
                </a:solidFill>
                <a:latin typeface="Calibri"/>
                <a:cs typeface="Calibri"/>
              </a:rPr>
              <a:t>English</a:t>
            </a:r>
            <a:r>
              <a:rPr dirty="0" sz="1700" spc="85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5A4D5A"/>
                </a:solidFill>
                <a:latin typeface="Calibri"/>
                <a:cs typeface="Calibri"/>
              </a:rPr>
              <a:t>words,</a:t>
            </a:r>
            <a:r>
              <a:rPr dirty="0" sz="1700" spc="95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5A4D5A"/>
                </a:solidFill>
                <a:latin typeface="Calibri"/>
                <a:cs typeface="Calibri"/>
              </a:rPr>
              <a:t>they</a:t>
            </a:r>
            <a:r>
              <a:rPr dirty="0" sz="1700" spc="90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5A4D5A"/>
                </a:solidFill>
                <a:latin typeface="Calibri"/>
                <a:cs typeface="Calibri"/>
              </a:rPr>
              <a:t>are</a:t>
            </a:r>
            <a:r>
              <a:rPr dirty="0" sz="1700" spc="80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5A4D5A"/>
                </a:solidFill>
                <a:latin typeface="Calibri"/>
                <a:cs typeface="Calibri"/>
              </a:rPr>
              <a:t>still</a:t>
            </a:r>
            <a:r>
              <a:rPr dirty="0" sz="1700" spc="85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5A4D5A"/>
                </a:solidFill>
                <a:latin typeface="Calibri"/>
                <a:cs typeface="Calibri"/>
              </a:rPr>
              <a:t>from</a:t>
            </a:r>
            <a:r>
              <a:rPr dirty="0" sz="1700" spc="95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5A4D5A"/>
                </a:solidFill>
                <a:latin typeface="Calibri"/>
                <a:cs typeface="Calibri"/>
              </a:rPr>
              <a:t>the</a:t>
            </a:r>
            <a:r>
              <a:rPr dirty="0" sz="1700" spc="80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5A4D5A"/>
                </a:solidFill>
                <a:latin typeface="Calibri"/>
                <a:cs typeface="Calibri"/>
              </a:rPr>
              <a:t>standpoint</a:t>
            </a:r>
            <a:r>
              <a:rPr dirty="0" sz="1700" spc="95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5A4D5A"/>
                </a:solidFill>
                <a:latin typeface="Calibri"/>
                <a:cs typeface="Calibri"/>
              </a:rPr>
              <a:t>of</a:t>
            </a:r>
            <a:r>
              <a:rPr dirty="0" sz="1700" spc="95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700" spc="-10">
                <a:solidFill>
                  <a:srgbClr val="5A4D5A"/>
                </a:solidFill>
                <a:latin typeface="Calibri"/>
                <a:cs typeface="Calibri"/>
              </a:rPr>
              <a:t>human</a:t>
            </a:r>
            <a:endParaRPr sz="1700">
              <a:latin typeface="Calibri"/>
              <a:cs typeface="Calibri"/>
            </a:endParaRPr>
          </a:p>
          <a:p>
            <a:pPr algn="just" marL="652780">
              <a:lnSpc>
                <a:spcPts val="1945"/>
              </a:lnSpc>
            </a:pPr>
            <a:r>
              <a:rPr dirty="0" sz="1700" spc="-20">
                <a:solidFill>
                  <a:srgbClr val="5A4D5A"/>
                </a:solidFill>
                <a:latin typeface="Calibri"/>
                <a:cs typeface="Calibri"/>
              </a:rPr>
              <a:t>convenience-</a:t>
            </a:r>
            <a:r>
              <a:rPr dirty="0" sz="1700" spc="-10">
                <a:solidFill>
                  <a:srgbClr val="5A4D5A"/>
                </a:solidFill>
                <a:latin typeface="Calibri"/>
                <a:cs typeface="Calibri"/>
              </a:rPr>
              <a:t>preferable</a:t>
            </a:r>
            <a:r>
              <a:rPr dirty="0" sz="1700" spc="45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5A4D5A"/>
                </a:solidFill>
                <a:latin typeface="Calibri"/>
                <a:cs typeface="Calibri"/>
              </a:rPr>
              <a:t>to</a:t>
            </a:r>
            <a:r>
              <a:rPr dirty="0" sz="1700" spc="-5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5A4D5A"/>
                </a:solidFill>
                <a:latin typeface="Calibri"/>
                <a:cs typeface="Calibri"/>
              </a:rPr>
              <a:t>numbers</a:t>
            </a:r>
            <a:r>
              <a:rPr dirty="0" sz="1700" spc="-30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5A4D5A"/>
                </a:solidFill>
                <a:latin typeface="Calibri"/>
                <a:cs typeface="Calibri"/>
              </a:rPr>
              <a:t>(0s</a:t>
            </a:r>
            <a:r>
              <a:rPr dirty="0" sz="1700" spc="-35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5A4D5A"/>
                </a:solidFill>
                <a:latin typeface="Calibri"/>
                <a:cs typeface="Calibri"/>
              </a:rPr>
              <a:t>and</a:t>
            </a:r>
            <a:r>
              <a:rPr dirty="0" sz="1700" spc="-25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5A4D5A"/>
                </a:solidFill>
                <a:latin typeface="Calibri"/>
                <a:cs typeface="Calibri"/>
              </a:rPr>
              <a:t>1s)</a:t>
            </a:r>
            <a:r>
              <a:rPr dirty="0" sz="1700" spc="-25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700" spc="-10">
                <a:solidFill>
                  <a:srgbClr val="5A4D5A"/>
                </a:solidFill>
                <a:latin typeface="Calibri"/>
                <a:cs typeface="Calibri"/>
              </a:rPr>
              <a:t>alone.</a:t>
            </a:r>
            <a:endParaRPr sz="1700">
              <a:latin typeface="Calibri"/>
              <a:cs typeface="Calibri"/>
            </a:endParaRPr>
          </a:p>
          <a:p>
            <a:pPr algn="just" lvl="1" marL="650240" indent="-317500">
              <a:lnSpc>
                <a:spcPts val="1945"/>
              </a:lnSpc>
              <a:spcBef>
                <a:spcPts val="720"/>
              </a:spcBef>
              <a:buFont typeface="Corbel"/>
              <a:buChar char="–"/>
              <a:tabLst>
                <a:tab pos="650240" algn="l"/>
              </a:tabLst>
            </a:pPr>
            <a:r>
              <a:rPr dirty="0" sz="1700">
                <a:solidFill>
                  <a:srgbClr val="5A4D5A"/>
                </a:solidFill>
                <a:latin typeface="Calibri"/>
                <a:cs typeface="Calibri"/>
              </a:rPr>
              <a:t>Furthermore,</a:t>
            </a:r>
            <a:r>
              <a:rPr dirty="0" sz="1700" spc="204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5A4D5A"/>
                </a:solidFill>
                <a:latin typeface="Calibri"/>
                <a:cs typeface="Calibri"/>
              </a:rPr>
              <a:t>assembly</a:t>
            </a:r>
            <a:r>
              <a:rPr dirty="0" sz="1700" spc="195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5A4D5A"/>
                </a:solidFill>
                <a:latin typeface="Calibri"/>
                <a:cs typeface="Calibri"/>
              </a:rPr>
              <a:t>languages</a:t>
            </a:r>
            <a:r>
              <a:rPr dirty="0" sz="1700" spc="220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5A4D5A"/>
                </a:solidFill>
                <a:latin typeface="Calibri"/>
                <a:cs typeface="Calibri"/>
              </a:rPr>
              <a:t>permit</a:t>
            </a:r>
            <a:r>
              <a:rPr dirty="0" sz="1700" spc="195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5A4D5A"/>
                </a:solidFill>
                <a:latin typeface="Calibri"/>
                <a:cs typeface="Calibri"/>
              </a:rPr>
              <a:t>the</a:t>
            </a:r>
            <a:r>
              <a:rPr dirty="0" sz="1700" spc="185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5A4D5A"/>
                </a:solidFill>
                <a:latin typeface="Calibri"/>
                <a:cs typeface="Calibri"/>
              </a:rPr>
              <a:t>use</a:t>
            </a:r>
            <a:r>
              <a:rPr dirty="0" sz="1700" spc="185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5A4D5A"/>
                </a:solidFill>
                <a:latin typeface="Calibri"/>
                <a:cs typeface="Calibri"/>
              </a:rPr>
              <a:t>of</a:t>
            </a:r>
            <a:r>
              <a:rPr dirty="0" sz="1700" spc="200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5A4D5A"/>
                </a:solidFill>
                <a:latin typeface="Calibri"/>
                <a:cs typeface="Calibri"/>
              </a:rPr>
              <a:t>names-</a:t>
            </a:r>
            <a:r>
              <a:rPr dirty="0" sz="1700" spc="195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5A4D5A"/>
                </a:solidFill>
                <a:latin typeface="Calibri"/>
                <a:cs typeface="Calibri"/>
              </a:rPr>
              <a:t>perhaps</a:t>
            </a:r>
            <a:r>
              <a:rPr dirty="0" sz="1700" spc="190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5A4D5A"/>
                </a:solidFill>
                <a:latin typeface="Calibri"/>
                <a:cs typeface="Calibri"/>
              </a:rPr>
              <a:t>RATE</a:t>
            </a:r>
            <a:r>
              <a:rPr dirty="0" sz="1700" spc="204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5A4D5A"/>
                </a:solidFill>
                <a:latin typeface="Calibri"/>
                <a:cs typeface="Calibri"/>
              </a:rPr>
              <a:t>or</a:t>
            </a:r>
            <a:r>
              <a:rPr dirty="0" sz="1700" spc="170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700" spc="-55">
                <a:solidFill>
                  <a:srgbClr val="5A4D5A"/>
                </a:solidFill>
                <a:latin typeface="Calibri"/>
                <a:cs typeface="Calibri"/>
              </a:rPr>
              <a:t>TOTAL-</a:t>
            </a:r>
            <a:r>
              <a:rPr dirty="0" sz="1700" spc="-25">
                <a:solidFill>
                  <a:srgbClr val="5A4D5A"/>
                </a:solidFill>
                <a:latin typeface="Calibri"/>
                <a:cs typeface="Calibri"/>
              </a:rPr>
              <a:t>for</a:t>
            </a:r>
            <a:endParaRPr sz="1700">
              <a:latin typeface="Calibri"/>
              <a:cs typeface="Calibri"/>
            </a:endParaRPr>
          </a:p>
          <a:p>
            <a:pPr algn="just" marL="652780">
              <a:lnSpc>
                <a:spcPts val="1945"/>
              </a:lnSpc>
            </a:pPr>
            <a:r>
              <a:rPr dirty="0" sz="1700">
                <a:solidFill>
                  <a:srgbClr val="5A4D5A"/>
                </a:solidFill>
                <a:latin typeface="Calibri"/>
                <a:cs typeface="Calibri"/>
              </a:rPr>
              <a:t>memory</a:t>
            </a:r>
            <a:r>
              <a:rPr dirty="0" sz="1700" spc="-40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5A4D5A"/>
                </a:solidFill>
                <a:latin typeface="Calibri"/>
                <a:cs typeface="Calibri"/>
              </a:rPr>
              <a:t>locations</a:t>
            </a:r>
            <a:r>
              <a:rPr dirty="0" sz="1700" spc="-10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5A4D5A"/>
                </a:solidFill>
                <a:latin typeface="Calibri"/>
                <a:cs typeface="Calibri"/>
              </a:rPr>
              <a:t>instead</a:t>
            </a:r>
            <a:r>
              <a:rPr dirty="0" sz="1700" spc="-65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5A4D5A"/>
                </a:solidFill>
                <a:latin typeface="Calibri"/>
                <a:cs typeface="Calibri"/>
              </a:rPr>
              <a:t>of</a:t>
            </a:r>
            <a:r>
              <a:rPr dirty="0" sz="1700" spc="-35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5A4D5A"/>
                </a:solidFill>
                <a:latin typeface="Calibri"/>
                <a:cs typeface="Calibri"/>
              </a:rPr>
              <a:t>actual</a:t>
            </a:r>
            <a:r>
              <a:rPr dirty="0" sz="1700" spc="-65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5A4D5A"/>
                </a:solidFill>
                <a:latin typeface="Calibri"/>
                <a:cs typeface="Calibri"/>
              </a:rPr>
              <a:t>address</a:t>
            </a:r>
            <a:r>
              <a:rPr dirty="0" sz="1700" spc="-75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700" spc="-10">
                <a:solidFill>
                  <a:srgbClr val="5A4D5A"/>
                </a:solidFill>
                <a:latin typeface="Calibri"/>
                <a:cs typeface="Calibri"/>
              </a:rPr>
              <a:t>numbers.</a:t>
            </a:r>
            <a:endParaRPr sz="1700">
              <a:latin typeface="Calibri"/>
              <a:cs typeface="Calibri"/>
            </a:endParaRPr>
          </a:p>
          <a:p>
            <a:pPr algn="just" lvl="1" marL="650240" indent="-317500">
              <a:lnSpc>
                <a:spcPct val="100000"/>
              </a:lnSpc>
              <a:spcBef>
                <a:spcPts val="720"/>
              </a:spcBef>
              <a:buFont typeface="Corbel"/>
              <a:buChar char="–"/>
              <a:tabLst>
                <a:tab pos="650240" algn="l"/>
              </a:tabLst>
            </a:pPr>
            <a:r>
              <a:rPr dirty="0" sz="1700">
                <a:solidFill>
                  <a:srgbClr val="5A4D5A"/>
                </a:solidFill>
                <a:latin typeface="Calibri"/>
                <a:cs typeface="Calibri"/>
              </a:rPr>
              <a:t>Just</a:t>
            </a:r>
            <a:r>
              <a:rPr dirty="0" sz="1700" spc="-70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5A4D5A"/>
                </a:solidFill>
                <a:latin typeface="Calibri"/>
                <a:cs typeface="Calibri"/>
              </a:rPr>
              <a:t>like</a:t>
            </a:r>
            <a:r>
              <a:rPr dirty="0" sz="1700" spc="-40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5A4D5A"/>
                </a:solidFill>
                <a:latin typeface="Calibri"/>
                <a:cs typeface="Calibri"/>
              </a:rPr>
              <a:t>machine</a:t>
            </a:r>
            <a:r>
              <a:rPr dirty="0" sz="1700" spc="-40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5A4D5A"/>
                </a:solidFill>
                <a:latin typeface="Calibri"/>
                <a:cs typeface="Calibri"/>
              </a:rPr>
              <a:t>language,</a:t>
            </a:r>
            <a:r>
              <a:rPr dirty="0" sz="1700" spc="-25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5A4D5A"/>
                </a:solidFill>
                <a:latin typeface="Calibri"/>
                <a:cs typeface="Calibri"/>
              </a:rPr>
              <a:t>each</a:t>
            </a:r>
            <a:r>
              <a:rPr dirty="0" sz="1700" spc="-60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5A4D5A"/>
                </a:solidFill>
                <a:latin typeface="Calibri"/>
                <a:cs typeface="Calibri"/>
              </a:rPr>
              <a:t>type</a:t>
            </a:r>
            <a:r>
              <a:rPr dirty="0" sz="1700" spc="-35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5A4D5A"/>
                </a:solidFill>
                <a:latin typeface="Calibri"/>
                <a:cs typeface="Calibri"/>
              </a:rPr>
              <a:t>of</a:t>
            </a:r>
            <a:r>
              <a:rPr dirty="0" sz="1700" spc="-25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5A4D5A"/>
                </a:solidFill>
                <a:latin typeface="Calibri"/>
                <a:cs typeface="Calibri"/>
              </a:rPr>
              <a:t>computer</a:t>
            </a:r>
            <a:r>
              <a:rPr dirty="0" sz="1700" spc="-20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5A4D5A"/>
                </a:solidFill>
                <a:latin typeface="Calibri"/>
                <a:cs typeface="Calibri"/>
              </a:rPr>
              <a:t>has</a:t>
            </a:r>
            <a:r>
              <a:rPr dirty="0" sz="1700" spc="-70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5A4D5A"/>
                </a:solidFill>
                <a:latin typeface="Calibri"/>
                <a:cs typeface="Calibri"/>
              </a:rPr>
              <a:t>its</a:t>
            </a:r>
            <a:r>
              <a:rPr dirty="0" sz="1700" spc="-50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5A4D5A"/>
                </a:solidFill>
                <a:latin typeface="Calibri"/>
                <a:cs typeface="Calibri"/>
              </a:rPr>
              <a:t>assembly</a:t>
            </a:r>
            <a:r>
              <a:rPr dirty="0" sz="1700" spc="-45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700" spc="-10">
                <a:solidFill>
                  <a:srgbClr val="5A4D5A"/>
                </a:solidFill>
                <a:latin typeface="Calibri"/>
                <a:cs typeface="Calibri"/>
              </a:rPr>
              <a:t>language.</a:t>
            </a:r>
            <a:endParaRPr sz="17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8575" rIns="0" bIns="0" rtlCol="0" vert="horz">
            <a:spAutoFit/>
          </a:bodyPr>
          <a:lstStyle/>
          <a:p>
            <a:pPr marL="433705" marR="5080">
              <a:lnSpc>
                <a:spcPts val="5240"/>
              </a:lnSpc>
              <a:spcBef>
                <a:spcPts val="225"/>
              </a:spcBef>
            </a:pPr>
            <a:r>
              <a:rPr dirty="0"/>
              <a:t>Level</a:t>
            </a:r>
            <a:r>
              <a:rPr dirty="0" spc="-65"/>
              <a:t> </a:t>
            </a:r>
            <a:r>
              <a:rPr dirty="0"/>
              <a:t>of</a:t>
            </a:r>
            <a:r>
              <a:rPr dirty="0" spc="-70"/>
              <a:t> </a:t>
            </a:r>
            <a:r>
              <a:rPr dirty="0" spc="-10"/>
              <a:t>Programming Languages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3013075" y="2308715"/>
            <a:ext cx="8613775" cy="3391535"/>
          </a:xfrm>
          <a:prstGeom prst="rect">
            <a:avLst/>
          </a:prstGeom>
        </p:spPr>
        <p:txBody>
          <a:bodyPr wrap="square" lIns="0" tIns="17526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380"/>
              </a:spcBef>
              <a:buFont typeface="Corbel"/>
              <a:buChar char="–"/>
              <a:tabLst>
                <a:tab pos="332740" algn="l"/>
              </a:tabLst>
            </a:pPr>
            <a:r>
              <a:rPr dirty="0" sz="2000" spc="-20">
                <a:solidFill>
                  <a:srgbClr val="5A4D5A"/>
                </a:solidFill>
                <a:latin typeface="Calibri"/>
                <a:cs typeface="Calibri"/>
              </a:rPr>
              <a:t>High-</a:t>
            </a:r>
            <a:r>
              <a:rPr dirty="0" sz="2000">
                <a:solidFill>
                  <a:srgbClr val="5A4D5A"/>
                </a:solidFill>
                <a:latin typeface="Calibri"/>
                <a:cs typeface="Calibri"/>
              </a:rPr>
              <a:t>level</a:t>
            </a:r>
            <a:r>
              <a:rPr dirty="0" sz="2000" spc="5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2000" spc="-10">
                <a:solidFill>
                  <a:srgbClr val="5A4D5A"/>
                </a:solidFill>
                <a:latin typeface="Calibri"/>
                <a:cs typeface="Calibri"/>
              </a:rPr>
              <a:t>languages</a:t>
            </a:r>
            <a:endParaRPr sz="2000">
              <a:latin typeface="Calibri"/>
              <a:cs typeface="Calibri"/>
            </a:endParaRPr>
          </a:p>
          <a:p>
            <a:pPr lvl="1" marL="652780" indent="-320040">
              <a:lnSpc>
                <a:spcPct val="100000"/>
              </a:lnSpc>
              <a:spcBef>
                <a:spcPts val="1165"/>
              </a:spcBef>
              <a:buFont typeface="Corbel"/>
              <a:buChar char="–"/>
              <a:tabLst>
                <a:tab pos="652780" algn="l"/>
              </a:tabLst>
            </a:pP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The</a:t>
            </a:r>
            <a:r>
              <a:rPr dirty="0" sz="1800" spc="385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first</a:t>
            </a:r>
            <a:r>
              <a:rPr dirty="0" sz="1800" spc="395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widespread</a:t>
            </a:r>
            <a:r>
              <a:rPr dirty="0" sz="1800" spc="390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use</a:t>
            </a:r>
            <a:r>
              <a:rPr dirty="0" sz="1800" spc="390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of</a:t>
            </a:r>
            <a:r>
              <a:rPr dirty="0" sz="1800" spc="390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5A4D5A"/>
                </a:solidFill>
                <a:latin typeface="Calibri"/>
                <a:cs typeface="Calibri"/>
              </a:rPr>
              <a:t>high-</a:t>
            </a: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level</a:t>
            </a:r>
            <a:r>
              <a:rPr dirty="0" sz="1800" spc="390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languages</a:t>
            </a:r>
            <a:r>
              <a:rPr dirty="0" sz="1800" spc="390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in</a:t>
            </a:r>
            <a:r>
              <a:rPr dirty="0" sz="1800" spc="385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the</a:t>
            </a:r>
            <a:r>
              <a:rPr dirty="0" sz="1800" spc="385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early</a:t>
            </a:r>
            <a:r>
              <a:rPr dirty="0" sz="1800" spc="420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1960s</a:t>
            </a:r>
            <a:r>
              <a:rPr dirty="0" sz="1800" spc="380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5A4D5A"/>
                </a:solidFill>
                <a:latin typeface="Calibri"/>
                <a:cs typeface="Calibri"/>
              </a:rPr>
              <a:t>transformed</a:t>
            </a:r>
            <a:endParaRPr sz="1800">
              <a:latin typeface="Calibri"/>
              <a:cs typeface="Calibri"/>
            </a:endParaRPr>
          </a:p>
          <a:p>
            <a:pPr marL="652780">
              <a:lnSpc>
                <a:spcPct val="100000"/>
              </a:lnSpc>
              <a:spcBef>
                <a:spcPts val="240"/>
              </a:spcBef>
            </a:pPr>
            <a:r>
              <a:rPr dirty="0" sz="1800" spc="-10">
                <a:solidFill>
                  <a:srgbClr val="5A4D5A"/>
                </a:solidFill>
                <a:latin typeface="Calibri"/>
                <a:cs typeface="Calibri"/>
              </a:rPr>
              <a:t>programming</a:t>
            </a:r>
            <a:r>
              <a:rPr dirty="0" sz="1800" spc="-30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into</a:t>
            </a:r>
            <a:r>
              <a:rPr dirty="0" sz="1800" spc="-40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something</a:t>
            </a:r>
            <a:r>
              <a:rPr dirty="0" sz="1800" spc="-25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quite</a:t>
            </a:r>
            <a:r>
              <a:rPr dirty="0" sz="1800" spc="-30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5A4D5A"/>
                </a:solidFill>
                <a:latin typeface="Calibri"/>
                <a:cs typeface="Calibri"/>
              </a:rPr>
              <a:t>different</a:t>
            </a:r>
            <a:r>
              <a:rPr dirty="0" sz="1800" spc="-5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from</a:t>
            </a:r>
            <a:r>
              <a:rPr dirty="0" sz="1800" spc="-65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what</a:t>
            </a:r>
            <a:r>
              <a:rPr dirty="0" sz="1800" spc="-65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it</a:t>
            </a:r>
            <a:r>
              <a:rPr dirty="0" sz="1800" spc="-45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had</a:t>
            </a:r>
            <a:r>
              <a:rPr dirty="0" sz="1800" spc="-50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5A4D5A"/>
                </a:solidFill>
                <a:latin typeface="Calibri"/>
                <a:cs typeface="Calibri"/>
              </a:rPr>
              <a:t>been.</a:t>
            </a:r>
            <a:endParaRPr sz="1800">
              <a:latin typeface="Calibri"/>
              <a:cs typeface="Calibri"/>
            </a:endParaRPr>
          </a:p>
          <a:p>
            <a:pPr lvl="1" marL="652780" indent="-320040">
              <a:lnSpc>
                <a:spcPct val="100000"/>
              </a:lnSpc>
              <a:spcBef>
                <a:spcPts val="1155"/>
              </a:spcBef>
              <a:buFont typeface="Corbel"/>
              <a:buChar char="–"/>
              <a:tabLst>
                <a:tab pos="652780" algn="l"/>
              </a:tabLst>
            </a:pP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Programs</a:t>
            </a:r>
            <a:r>
              <a:rPr dirty="0" sz="1800" spc="-25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were</a:t>
            </a:r>
            <a:r>
              <a:rPr dirty="0" sz="1800" spc="-10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written</a:t>
            </a:r>
            <a:r>
              <a:rPr dirty="0" sz="1800" spc="-10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in</a:t>
            </a:r>
            <a:r>
              <a:rPr dirty="0" sz="1800" spc="-10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an</a:t>
            </a:r>
            <a:r>
              <a:rPr dirty="0" sz="1800" spc="-10">
                <a:solidFill>
                  <a:srgbClr val="5A4D5A"/>
                </a:solidFill>
                <a:latin typeface="Calibri"/>
                <a:cs typeface="Calibri"/>
              </a:rPr>
              <a:t> English-</a:t>
            </a: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like</a:t>
            </a:r>
            <a:r>
              <a:rPr dirty="0" sz="1800" spc="-15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 spc="-20">
                <a:solidFill>
                  <a:srgbClr val="5A4D5A"/>
                </a:solidFill>
                <a:latin typeface="Calibri"/>
                <a:cs typeface="Calibri"/>
              </a:rPr>
              <a:t>manner,</a:t>
            </a:r>
            <a:r>
              <a:rPr dirty="0" sz="1800" spc="-10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thus</a:t>
            </a:r>
            <a:r>
              <a:rPr dirty="0" sz="1800" spc="-10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making</a:t>
            </a:r>
            <a:r>
              <a:rPr dirty="0" sz="1800" spc="-30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them</a:t>
            </a:r>
            <a:r>
              <a:rPr dirty="0" sz="1800" spc="-20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more</a:t>
            </a:r>
            <a:r>
              <a:rPr dirty="0" sz="1800" spc="-30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5A4D5A"/>
                </a:solidFill>
                <a:latin typeface="Calibri"/>
                <a:cs typeface="Calibri"/>
              </a:rPr>
              <a:t>convenient</a:t>
            </a:r>
            <a:endParaRPr sz="1800">
              <a:latin typeface="Calibri"/>
              <a:cs typeface="Calibri"/>
            </a:endParaRPr>
          </a:p>
          <a:p>
            <a:pPr marL="652780">
              <a:lnSpc>
                <a:spcPct val="100000"/>
              </a:lnSpc>
              <a:spcBef>
                <a:spcPts val="240"/>
              </a:spcBef>
            </a:pP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to</a:t>
            </a:r>
            <a:r>
              <a:rPr dirty="0" sz="1800" spc="-20">
                <a:solidFill>
                  <a:srgbClr val="5A4D5A"/>
                </a:solidFill>
                <a:latin typeface="Calibri"/>
                <a:cs typeface="Calibri"/>
              </a:rPr>
              <a:t> use.</a:t>
            </a:r>
            <a:endParaRPr sz="1800">
              <a:latin typeface="Calibri"/>
              <a:cs typeface="Calibri"/>
            </a:endParaRPr>
          </a:p>
          <a:p>
            <a:pPr lvl="1" marL="652780" indent="-320040">
              <a:lnSpc>
                <a:spcPct val="100000"/>
              </a:lnSpc>
              <a:spcBef>
                <a:spcPts val="1130"/>
              </a:spcBef>
              <a:buFont typeface="Corbel"/>
              <a:buChar char="–"/>
              <a:tabLst>
                <a:tab pos="652780" algn="l"/>
              </a:tabLst>
            </a:pP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As</a:t>
            </a:r>
            <a:r>
              <a:rPr dirty="0" sz="1800" spc="280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a</a:t>
            </a:r>
            <a:r>
              <a:rPr dirty="0" sz="1800" spc="290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result,</a:t>
            </a:r>
            <a:r>
              <a:rPr dirty="0" sz="1800" spc="295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a</a:t>
            </a:r>
            <a:r>
              <a:rPr dirty="0" sz="1800" spc="315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programmer</a:t>
            </a:r>
            <a:r>
              <a:rPr dirty="0" sz="1800" spc="295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could</a:t>
            </a:r>
            <a:r>
              <a:rPr dirty="0" sz="1800" spc="285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accomplish</a:t>
            </a:r>
            <a:r>
              <a:rPr dirty="0" sz="1800" spc="285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more</a:t>
            </a:r>
            <a:r>
              <a:rPr dirty="0" sz="1800" spc="285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with</a:t>
            </a:r>
            <a:r>
              <a:rPr dirty="0" sz="1800" spc="285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less</a:t>
            </a:r>
            <a:r>
              <a:rPr dirty="0" sz="1800" spc="295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effort,</a:t>
            </a:r>
            <a:r>
              <a:rPr dirty="0" sz="1800" spc="295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and</a:t>
            </a:r>
            <a:r>
              <a:rPr dirty="0" sz="1800" spc="305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5A4D5A"/>
                </a:solidFill>
                <a:latin typeface="Calibri"/>
                <a:cs typeface="Calibri"/>
              </a:rPr>
              <a:t>programs</a:t>
            </a:r>
            <a:endParaRPr sz="1800">
              <a:latin typeface="Calibri"/>
              <a:cs typeface="Calibri"/>
            </a:endParaRPr>
          </a:p>
          <a:p>
            <a:pPr marL="652780">
              <a:lnSpc>
                <a:spcPct val="100000"/>
              </a:lnSpc>
              <a:spcBef>
                <a:spcPts val="240"/>
              </a:spcBef>
            </a:pP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could</a:t>
            </a:r>
            <a:r>
              <a:rPr dirty="0" sz="1800" spc="-40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now</a:t>
            </a:r>
            <a:r>
              <a:rPr dirty="0" sz="1800" spc="-45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direct</a:t>
            </a:r>
            <a:r>
              <a:rPr dirty="0" sz="1800" spc="-35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much</a:t>
            </a:r>
            <a:r>
              <a:rPr dirty="0" sz="1800" spc="-40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more</a:t>
            </a:r>
            <a:r>
              <a:rPr dirty="0" sz="1800" spc="-35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5A4D5A"/>
                </a:solidFill>
                <a:latin typeface="Calibri"/>
                <a:cs typeface="Calibri"/>
              </a:rPr>
              <a:t>complex</a:t>
            </a:r>
            <a:r>
              <a:rPr dirty="0" sz="1800" spc="-40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5A4D5A"/>
                </a:solidFill>
                <a:latin typeface="Calibri"/>
                <a:cs typeface="Calibri"/>
              </a:rPr>
              <a:t>tasks.</a:t>
            </a:r>
            <a:endParaRPr sz="1800">
              <a:latin typeface="Calibri"/>
              <a:cs typeface="Calibri"/>
            </a:endParaRPr>
          </a:p>
          <a:p>
            <a:pPr lvl="1" marL="652780" marR="5080" indent="-320040">
              <a:lnSpc>
                <a:spcPct val="111200"/>
              </a:lnSpc>
              <a:spcBef>
                <a:spcPts val="885"/>
              </a:spcBef>
              <a:buFont typeface="Corbel"/>
              <a:buChar char="–"/>
              <a:tabLst>
                <a:tab pos="652780" algn="l"/>
                <a:tab pos="1338580" algn="l"/>
                <a:tab pos="2301875" algn="l"/>
                <a:tab pos="3963670" algn="l"/>
                <a:tab pos="5033645" algn="l"/>
                <a:tab pos="5893435" algn="l"/>
                <a:tab pos="6344920" algn="l"/>
                <a:tab pos="6966584" algn="l"/>
                <a:tab pos="7878445" algn="l"/>
                <a:tab pos="8192134" algn="l"/>
              </a:tabLst>
            </a:pPr>
            <a:r>
              <a:rPr dirty="0" sz="1800" spc="-10">
                <a:solidFill>
                  <a:srgbClr val="5A4D5A"/>
                </a:solidFill>
                <a:latin typeface="Calibri"/>
                <a:cs typeface="Calibri"/>
              </a:rPr>
              <a:t>These</a:t>
            </a: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	so-</a:t>
            </a:r>
            <a:r>
              <a:rPr dirty="0" sz="1800" spc="-10">
                <a:solidFill>
                  <a:srgbClr val="5A4D5A"/>
                </a:solidFill>
                <a:latin typeface="Calibri"/>
                <a:cs typeface="Calibri"/>
              </a:rPr>
              <a:t>called</a:t>
            </a: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	</a:t>
            </a:r>
            <a:r>
              <a:rPr dirty="0" sz="1800" spc="-10">
                <a:solidFill>
                  <a:srgbClr val="5A4D5A"/>
                </a:solidFill>
                <a:latin typeface="Calibri"/>
                <a:cs typeface="Calibri"/>
              </a:rPr>
              <a:t>third-generation</a:t>
            </a: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	</a:t>
            </a:r>
            <a:r>
              <a:rPr dirty="0" sz="1800" spc="-10">
                <a:solidFill>
                  <a:srgbClr val="5A4D5A"/>
                </a:solidFill>
                <a:latin typeface="Calibri"/>
                <a:cs typeface="Calibri"/>
              </a:rPr>
              <a:t>languages</a:t>
            </a: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	</a:t>
            </a:r>
            <a:r>
              <a:rPr dirty="0" sz="1800" spc="-10">
                <a:solidFill>
                  <a:srgbClr val="5A4D5A"/>
                </a:solidFill>
                <a:latin typeface="Calibri"/>
                <a:cs typeface="Calibri"/>
              </a:rPr>
              <a:t>spurred</a:t>
            </a: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	</a:t>
            </a:r>
            <a:r>
              <a:rPr dirty="0" sz="1800" spc="-25">
                <a:solidFill>
                  <a:srgbClr val="5A4D5A"/>
                </a:solidFill>
                <a:latin typeface="Calibri"/>
                <a:cs typeface="Calibri"/>
              </a:rPr>
              <a:t>the</a:t>
            </a: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	</a:t>
            </a:r>
            <a:r>
              <a:rPr dirty="0" sz="1800" spc="-10">
                <a:solidFill>
                  <a:srgbClr val="5A4D5A"/>
                </a:solidFill>
                <a:latin typeface="Calibri"/>
                <a:cs typeface="Calibri"/>
              </a:rPr>
              <a:t>great</a:t>
            </a: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	</a:t>
            </a:r>
            <a:r>
              <a:rPr dirty="0" sz="1800" spc="-10">
                <a:solidFill>
                  <a:srgbClr val="5A4D5A"/>
                </a:solidFill>
                <a:latin typeface="Calibri"/>
                <a:cs typeface="Calibri"/>
              </a:rPr>
              <a:t>increase</a:t>
            </a: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	</a:t>
            </a:r>
            <a:r>
              <a:rPr dirty="0" sz="1800" spc="-25">
                <a:solidFill>
                  <a:srgbClr val="5A4D5A"/>
                </a:solidFill>
                <a:latin typeface="Calibri"/>
                <a:cs typeface="Calibri"/>
              </a:rPr>
              <a:t>in</a:t>
            </a: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	</a:t>
            </a:r>
            <a:r>
              <a:rPr dirty="0" sz="1800" spc="-30">
                <a:solidFill>
                  <a:srgbClr val="5A4D5A"/>
                </a:solidFill>
                <a:latin typeface="Calibri"/>
                <a:cs typeface="Calibri"/>
              </a:rPr>
              <a:t>data </a:t>
            </a: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processing</a:t>
            </a:r>
            <a:r>
              <a:rPr dirty="0" sz="1800" spc="-30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that</a:t>
            </a:r>
            <a:r>
              <a:rPr dirty="0" sz="1800" spc="-50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5A4D5A"/>
                </a:solidFill>
                <a:latin typeface="Calibri"/>
                <a:cs typeface="Calibri"/>
              </a:rPr>
              <a:t>characterized</a:t>
            </a:r>
            <a:r>
              <a:rPr dirty="0" sz="1800" spc="-15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the</a:t>
            </a:r>
            <a:r>
              <a:rPr dirty="0" sz="1800" spc="-50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1960s</a:t>
            </a:r>
            <a:r>
              <a:rPr dirty="0" sz="1800" spc="-75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and</a:t>
            </a:r>
            <a:r>
              <a:rPr dirty="0" sz="1800" spc="-30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5A4D5A"/>
                </a:solidFill>
                <a:latin typeface="Calibri"/>
                <a:cs typeface="Calibri"/>
              </a:rPr>
              <a:t>1970s.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8575" rIns="0" bIns="0" rtlCol="0" vert="horz">
            <a:spAutoFit/>
          </a:bodyPr>
          <a:lstStyle/>
          <a:p>
            <a:pPr marL="433705" marR="5080">
              <a:lnSpc>
                <a:spcPts val="5240"/>
              </a:lnSpc>
              <a:spcBef>
                <a:spcPts val="225"/>
              </a:spcBef>
            </a:pPr>
            <a:r>
              <a:rPr dirty="0"/>
              <a:t>Level</a:t>
            </a:r>
            <a:r>
              <a:rPr dirty="0" spc="-65"/>
              <a:t> </a:t>
            </a:r>
            <a:r>
              <a:rPr dirty="0"/>
              <a:t>of</a:t>
            </a:r>
            <a:r>
              <a:rPr dirty="0" spc="-70"/>
              <a:t> </a:t>
            </a:r>
            <a:r>
              <a:rPr dirty="0" spc="-10"/>
              <a:t>Programming Languages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3013075" y="2318172"/>
            <a:ext cx="8618220" cy="3693160"/>
          </a:xfrm>
          <a:prstGeom prst="rect">
            <a:avLst/>
          </a:prstGeom>
        </p:spPr>
        <p:txBody>
          <a:bodyPr wrap="square" lIns="0" tIns="144780" rIns="0" bIns="0" rtlCol="0" vert="horz">
            <a:spAutoFit/>
          </a:bodyPr>
          <a:lstStyle/>
          <a:p>
            <a:pPr algn="just" marL="332105" indent="-319405">
              <a:lnSpc>
                <a:spcPct val="100000"/>
              </a:lnSpc>
              <a:spcBef>
                <a:spcPts val="1140"/>
              </a:spcBef>
              <a:buFont typeface="Corbel"/>
              <a:buChar char="–"/>
              <a:tabLst>
                <a:tab pos="332105" algn="l"/>
              </a:tabLst>
            </a:pPr>
            <a:r>
              <a:rPr dirty="0" sz="2000" spc="-10">
                <a:solidFill>
                  <a:srgbClr val="5A4D5A"/>
                </a:solidFill>
                <a:latin typeface="Calibri"/>
                <a:cs typeface="Calibri"/>
              </a:rPr>
              <a:t>Very</a:t>
            </a:r>
            <a:r>
              <a:rPr dirty="0" sz="2000" spc="-70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2000" spc="-10">
                <a:solidFill>
                  <a:srgbClr val="5A4D5A"/>
                </a:solidFill>
                <a:latin typeface="Calibri"/>
                <a:cs typeface="Calibri"/>
              </a:rPr>
              <a:t>high-</a:t>
            </a:r>
            <a:r>
              <a:rPr dirty="0" sz="2000">
                <a:solidFill>
                  <a:srgbClr val="5A4D5A"/>
                </a:solidFill>
                <a:latin typeface="Calibri"/>
                <a:cs typeface="Calibri"/>
              </a:rPr>
              <a:t>level</a:t>
            </a:r>
            <a:r>
              <a:rPr dirty="0" sz="2000" spc="-60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2000" spc="-10">
                <a:solidFill>
                  <a:srgbClr val="5A4D5A"/>
                </a:solidFill>
                <a:latin typeface="Calibri"/>
                <a:cs typeface="Calibri"/>
              </a:rPr>
              <a:t>languages</a:t>
            </a:r>
            <a:endParaRPr sz="2000">
              <a:latin typeface="Calibri"/>
              <a:cs typeface="Calibri"/>
            </a:endParaRPr>
          </a:p>
          <a:p>
            <a:pPr algn="just" lvl="1" marL="652780" marR="8890" indent="-320040">
              <a:lnSpc>
                <a:spcPct val="101099"/>
              </a:lnSpc>
              <a:spcBef>
                <a:spcPts val="919"/>
              </a:spcBef>
              <a:buFont typeface="Corbel"/>
              <a:buChar char="–"/>
              <a:tabLst>
                <a:tab pos="652780" algn="l"/>
              </a:tabLst>
            </a:pP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The</a:t>
            </a:r>
            <a:r>
              <a:rPr dirty="0" sz="1800" spc="325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first</a:t>
            </a:r>
            <a:r>
              <a:rPr dirty="0" sz="1800" spc="360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is</a:t>
            </a:r>
            <a:r>
              <a:rPr dirty="0" sz="1800" spc="330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that</a:t>
            </a:r>
            <a:r>
              <a:rPr dirty="0" sz="1800" spc="330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they</a:t>
            </a:r>
            <a:r>
              <a:rPr dirty="0" sz="1800" spc="340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make</a:t>
            </a:r>
            <a:r>
              <a:rPr dirty="0" sz="1800" spc="325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a</a:t>
            </a:r>
            <a:r>
              <a:rPr dirty="0" sz="1800" spc="360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true</a:t>
            </a:r>
            <a:r>
              <a:rPr dirty="0" sz="1800" spc="350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break</a:t>
            </a:r>
            <a:r>
              <a:rPr dirty="0" sz="1800" spc="335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with</a:t>
            </a:r>
            <a:r>
              <a:rPr dirty="0" sz="1800" spc="355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the</a:t>
            </a:r>
            <a:r>
              <a:rPr dirty="0" sz="1800" spc="350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prior</a:t>
            </a:r>
            <a:r>
              <a:rPr dirty="0" sz="1800" spc="360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 spc="-20">
                <a:solidFill>
                  <a:srgbClr val="5A4D5A"/>
                </a:solidFill>
                <a:latin typeface="Calibri"/>
                <a:cs typeface="Calibri"/>
              </a:rPr>
              <a:t>generation-</a:t>
            </a: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they</a:t>
            </a:r>
            <a:r>
              <a:rPr dirty="0" sz="1800" spc="345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are</a:t>
            </a:r>
            <a:r>
              <a:rPr dirty="0" sz="1800" spc="345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 spc="-20">
                <a:solidFill>
                  <a:srgbClr val="5A4D5A"/>
                </a:solidFill>
                <a:latin typeface="Calibri"/>
                <a:cs typeface="Calibri"/>
              </a:rPr>
              <a:t>non- </a:t>
            </a:r>
            <a:r>
              <a:rPr dirty="0" sz="1800" spc="-10">
                <a:solidFill>
                  <a:srgbClr val="5A4D5A"/>
                </a:solidFill>
                <a:latin typeface="Calibri"/>
                <a:cs typeface="Calibri"/>
              </a:rPr>
              <a:t>procedural.</a:t>
            </a:r>
            <a:endParaRPr sz="1800">
              <a:latin typeface="Calibri"/>
              <a:cs typeface="Calibri"/>
            </a:endParaRPr>
          </a:p>
          <a:p>
            <a:pPr algn="just" lvl="1" marL="652780" marR="8890" indent="-320040">
              <a:lnSpc>
                <a:spcPct val="101099"/>
              </a:lnSpc>
              <a:spcBef>
                <a:spcPts val="890"/>
              </a:spcBef>
              <a:buFont typeface="Corbel"/>
              <a:buChar char="–"/>
              <a:tabLst>
                <a:tab pos="652780" algn="l"/>
              </a:tabLst>
            </a:pP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A</a:t>
            </a:r>
            <a:r>
              <a:rPr dirty="0" sz="1800" spc="-35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procedural language</a:t>
            </a:r>
            <a:r>
              <a:rPr dirty="0" sz="1800" spc="-25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tells</a:t>
            </a:r>
            <a:r>
              <a:rPr dirty="0" sz="1800" spc="-35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the</a:t>
            </a:r>
            <a:r>
              <a:rPr dirty="0" sz="1800" spc="-10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computer</a:t>
            </a:r>
            <a:r>
              <a:rPr dirty="0" sz="1800" spc="-5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how</a:t>
            </a:r>
            <a:r>
              <a:rPr dirty="0" sz="1800" spc="-15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a</a:t>
            </a:r>
            <a:r>
              <a:rPr dirty="0" sz="1800" spc="-25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task</a:t>
            </a:r>
            <a:r>
              <a:rPr dirty="0" sz="1800" spc="-30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is</a:t>
            </a:r>
            <a:r>
              <a:rPr dirty="0" sz="1800" spc="-10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done:</a:t>
            </a:r>
            <a:r>
              <a:rPr dirty="0" sz="1800" spc="-30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Add</a:t>
            </a:r>
            <a:r>
              <a:rPr dirty="0" sz="1800" spc="-10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this,</a:t>
            </a:r>
            <a:r>
              <a:rPr dirty="0" sz="1800" spc="-20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compare</a:t>
            </a:r>
            <a:r>
              <a:rPr dirty="0" sz="1800" spc="-30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5A4D5A"/>
                </a:solidFill>
                <a:latin typeface="Calibri"/>
                <a:cs typeface="Calibri"/>
              </a:rPr>
              <a:t>that, </a:t>
            </a: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do</a:t>
            </a:r>
            <a:r>
              <a:rPr dirty="0" sz="1800" spc="-30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this</a:t>
            </a:r>
            <a:r>
              <a:rPr dirty="0" sz="1800" spc="-15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if</a:t>
            </a:r>
            <a:r>
              <a:rPr dirty="0" sz="1800" spc="-10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something</a:t>
            </a:r>
            <a:r>
              <a:rPr dirty="0" sz="1800" spc="-15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is</a:t>
            </a:r>
            <a:r>
              <a:rPr dirty="0" sz="1800" spc="-20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true,</a:t>
            </a:r>
            <a:r>
              <a:rPr dirty="0" sz="1800" spc="-10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and</a:t>
            </a:r>
            <a:r>
              <a:rPr dirty="0" sz="1800" spc="-20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so</a:t>
            </a:r>
            <a:r>
              <a:rPr dirty="0" sz="1800" spc="-25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 spc="-20">
                <a:solidFill>
                  <a:srgbClr val="5A4D5A"/>
                </a:solidFill>
                <a:latin typeface="Calibri"/>
                <a:cs typeface="Calibri"/>
              </a:rPr>
              <a:t>forth-</a:t>
            </a: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a</a:t>
            </a:r>
            <a:r>
              <a:rPr dirty="0" sz="1800" spc="-10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very</a:t>
            </a:r>
            <a:r>
              <a:rPr dirty="0" sz="1800" spc="-10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specific</a:t>
            </a:r>
            <a:r>
              <a:rPr dirty="0" sz="1800" spc="-10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 spc="-30">
                <a:solidFill>
                  <a:srgbClr val="5A4D5A"/>
                </a:solidFill>
                <a:latin typeface="Calibri"/>
                <a:cs typeface="Calibri"/>
              </a:rPr>
              <a:t>step-</a:t>
            </a:r>
            <a:r>
              <a:rPr dirty="0" sz="1800" spc="-20">
                <a:solidFill>
                  <a:srgbClr val="5A4D5A"/>
                </a:solidFill>
                <a:latin typeface="Calibri"/>
                <a:cs typeface="Calibri"/>
              </a:rPr>
              <a:t>by-</a:t>
            </a: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step</a:t>
            </a:r>
            <a:r>
              <a:rPr dirty="0" sz="1800" spc="40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5A4D5A"/>
                </a:solidFill>
                <a:latin typeface="Calibri"/>
                <a:cs typeface="Calibri"/>
              </a:rPr>
              <a:t>process.</a:t>
            </a:r>
            <a:endParaRPr sz="1800">
              <a:latin typeface="Calibri"/>
              <a:cs typeface="Calibri"/>
            </a:endParaRPr>
          </a:p>
          <a:p>
            <a:pPr algn="just" lvl="1" marL="652780" marR="12065" indent="-320040">
              <a:lnSpc>
                <a:spcPct val="101200"/>
              </a:lnSpc>
              <a:spcBef>
                <a:spcPts val="890"/>
              </a:spcBef>
              <a:buFont typeface="Corbel"/>
              <a:buChar char="–"/>
              <a:tabLst>
                <a:tab pos="652780" algn="l"/>
              </a:tabLst>
            </a:pP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The</a:t>
            </a:r>
            <a:r>
              <a:rPr dirty="0" sz="1800" spc="445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first</a:t>
            </a:r>
            <a:r>
              <a:rPr dirty="0" sz="1800" spc="475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three</a:t>
            </a:r>
            <a:r>
              <a:rPr dirty="0" sz="1800" spc="490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generations</a:t>
            </a:r>
            <a:r>
              <a:rPr dirty="0" sz="1800" spc="475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of</a:t>
            </a:r>
            <a:r>
              <a:rPr dirty="0" sz="1800" spc="475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languages</a:t>
            </a:r>
            <a:r>
              <a:rPr dirty="0" sz="1800" spc="450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are</a:t>
            </a:r>
            <a:r>
              <a:rPr dirty="0" sz="1800" spc="450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all</a:t>
            </a:r>
            <a:r>
              <a:rPr dirty="0" sz="1800" spc="470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procedural.</a:t>
            </a:r>
            <a:r>
              <a:rPr dirty="0" sz="1800" spc="450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In</a:t>
            </a:r>
            <a:r>
              <a:rPr dirty="0" sz="1800" spc="445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a</a:t>
            </a:r>
            <a:r>
              <a:rPr dirty="0" sz="1800" spc="475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5A4D5A"/>
                </a:solidFill>
                <a:latin typeface="Calibri"/>
                <a:cs typeface="Calibri"/>
              </a:rPr>
              <a:t>nonprocedural </a:t>
            </a: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language,</a:t>
            </a:r>
            <a:r>
              <a:rPr dirty="0" sz="1800" spc="-50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the</a:t>
            </a:r>
            <a:r>
              <a:rPr dirty="0" sz="1800" spc="-40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concept</a:t>
            </a:r>
            <a:r>
              <a:rPr dirty="0" sz="1800" spc="-30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changes.</a:t>
            </a:r>
            <a:r>
              <a:rPr dirty="0" sz="1800" spc="-35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Here,</a:t>
            </a:r>
            <a:r>
              <a:rPr dirty="0" sz="1800" spc="-20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users</a:t>
            </a:r>
            <a:r>
              <a:rPr dirty="0" sz="1800" spc="-40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define</a:t>
            </a:r>
            <a:r>
              <a:rPr dirty="0" sz="1800" spc="-40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only</a:t>
            </a:r>
            <a:r>
              <a:rPr dirty="0" sz="1800" spc="-55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what</a:t>
            </a:r>
            <a:r>
              <a:rPr dirty="0" sz="1800" spc="-50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they</a:t>
            </a:r>
            <a:r>
              <a:rPr dirty="0" sz="1800" spc="-55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want</a:t>
            </a:r>
            <a:r>
              <a:rPr dirty="0" sz="1800" spc="-60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the</a:t>
            </a:r>
            <a:r>
              <a:rPr dirty="0" sz="1800" spc="-35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5A4D5A"/>
                </a:solidFill>
                <a:latin typeface="Calibri"/>
                <a:cs typeface="Calibri"/>
              </a:rPr>
              <a:t>computer </a:t>
            </a: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to</a:t>
            </a:r>
            <a:r>
              <a:rPr dirty="0" sz="1800" spc="-30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do;</a:t>
            </a:r>
            <a:r>
              <a:rPr dirty="0" sz="1800" spc="-20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the</a:t>
            </a:r>
            <a:r>
              <a:rPr dirty="0" sz="1800" spc="-20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user</a:t>
            </a:r>
            <a:r>
              <a:rPr dirty="0" sz="1800" spc="-20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does</a:t>
            </a:r>
            <a:r>
              <a:rPr dirty="0" sz="1800" spc="-20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not</a:t>
            </a:r>
            <a:r>
              <a:rPr dirty="0" sz="1800" spc="-15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provide</a:t>
            </a:r>
            <a:r>
              <a:rPr dirty="0" sz="1800" spc="-20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the</a:t>
            </a:r>
            <a:r>
              <a:rPr dirty="0" sz="1800" spc="-25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details of</a:t>
            </a:r>
            <a:r>
              <a:rPr dirty="0" sz="1800" spc="-60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just</a:t>
            </a:r>
            <a:r>
              <a:rPr dirty="0" sz="1800" spc="-20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how</a:t>
            </a:r>
            <a:r>
              <a:rPr dirty="0" sz="1800" spc="-30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it</a:t>
            </a:r>
            <a:r>
              <a:rPr dirty="0" sz="1800" spc="-40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is</a:t>
            </a:r>
            <a:r>
              <a:rPr dirty="0" sz="1800" spc="-25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to</a:t>
            </a:r>
            <a:r>
              <a:rPr dirty="0" sz="1800" spc="-25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be</a:t>
            </a:r>
            <a:r>
              <a:rPr dirty="0" sz="1800" spc="-25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5A4D5A"/>
                </a:solidFill>
                <a:latin typeface="Calibri"/>
                <a:cs typeface="Calibri"/>
              </a:rPr>
              <a:t>done.</a:t>
            </a:r>
            <a:endParaRPr sz="1800">
              <a:latin typeface="Calibri"/>
              <a:cs typeface="Calibri"/>
            </a:endParaRPr>
          </a:p>
          <a:p>
            <a:pPr algn="just" lvl="1" marL="652780" marR="5080" indent="-320040">
              <a:lnSpc>
                <a:spcPct val="101200"/>
              </a:lnSpc>
              <a:spcBef>
                <a:spcPts val="885"/>
              </a:spcBef>
              <a:buFont typeface="Corbel"/>
              <a:buChar char="–"/>
              <a:tabLst>
                <a:tab pos="652780" algn="l"/>
              </a:tabLst>
            </a:pP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It</a:t>
            </a:r>
            <a:r>
              <a:rPr dirty="0" sz="1800" spc="95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is</a:t>
            </a:r>
            <a:r>
              <a:rPr dirty="0" sz="1800" spc="95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a</a:t>
            </a:r>
            <a:r>
              <a:rPr dirty="0" sz="1800" spc="105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lot</a:t>
            </a:r>
            <a:r>
              <a:rPr dirty="0" sz="1800" spc="95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easier</a:t>
            </a:r>
            <a:r>
              <a:rPr dirty="0" sz="1800" spc="100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and</a:t>
            </a:r>
            <a:r>
              <a:rPr dirty="0" sz="1800" spc="95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faster</a:t>
            </a:r>
            <a:r>
              <a:rPr dirty="0" sz="1800" spc="100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just</a:t>
            </a:r>
            <a:r>
              <a:rPr dirty="0" sz="1800" spc="100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to</a:t>
            </a:r>
            <a:r>
              <a:rPr dirty="0" sz="1800" spc="114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say</a:t>
            </a:r>
            <a:r>
              <a:rPr dirty="0" sz="1800" spc="80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what</a:t>
            </a:r>
            <a:r>
              <a:rPr dirty="0" sz="1800" spc="95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you</a:t>
            </a:r>
            <a:r>
              <a:rPr dirty="0" sz="1800" spc="100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want</a:t>
            </a:r>
            <a:r>
              <a:rPr dirty="0" sz="1800" spc="100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rather</a:t>
            </a:r>
            <a:r>
              <a:rPr dirty="0" sz="1800" spc="95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than</a:t>
            </a:r>
            <a:r>
              <a:rPr dirty="0" sz="1800" spc="120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how</a:t>
            </a:r>
            <a:r>
              <a:rPr dirty="0" sz="1800" spc="110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to</a:t>
            </a:r>
            <a:r>
              <a:rPr dirty="0" sz="1800" spc="114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get</a:t>
            </a:r>
            <a:r>
              <a:rPr dirty="0" sz="1800" spc="95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it.</a:t>
            </a:r>
            <a:r>
              <a:rPr dirty="0" sz="1800" spc="105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 spc="-20">
                <a:solidFill>
                  <a:srgbClr val="5A4D5A"/>
                </a:solidFill>
                <a:latin typeface="Calibri"/>
                <a:cs typeface="Calibri"/>
              </a:rPr>
              <a:t>This </a:t>
            </a: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leads</a:t>
            </a:r>
            <a:r>
              <a:rPr dirty="0" sz="1800" spc="75">
                <a:solidFill>
                  <a:srgbClr val="5A4D5A"/>
                </a:solidFill>
                <a:latin typeface="Calibri"/>
                <a:cs typeface="Calibri"/>
              </a:rPr>
              <a:t>  </a:t>
            </a: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us</a:t>
            </a:r>
            <a:r>
              <a:rPr dirty="0" sz="1800" spc="80">
                <a:solidFill>
                  <a:srgbClr val="5A4D5A"/>
                </a:solidFill>
                <a:latin typeface="Calibri"/>
                <a:cs typeface="Calibri"/>
              </a:rPr>
              <a:t>  </a:t>
            </a: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to</a:t>
            </a:r>
            <a:r>
              <a:rPr dirty="0" sz="1800" spc="80">
                <a:solidFill>
                  <a:srgbClr val="5A4D5A"/>
                </a:solidFill>
                <a:latin typeface="Calibri"/>
                <a:cs typeface="Calibri"/>
              </a:rPr>
              <a:t>  </a:t>
            </a: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the</a:t>
            </a:r>
            <a:r>
              <a:rPr dirty="0" sz="1800" spc="80">
                <a:solidFill>
                  <a:srgbClr val="5A4D5A"/>
                </a:solidFill>
                <a:latin typeface="Calibri"/>
                <a:cs typeface="Calibri"/>
              </a:rPr>
              <a:t>  </a:t>
            </a: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issue</a:t>
            </a:r>
            <a:r>
              <a:rPr dirty="0" sz="1800" spc="65">
                <a:solidFill>
                  <a:srgbClr val="5A4D5A"/>
                </a:solidFill>
                <a:latin typeface="Calibri"/>
                <a:cs typeface="Calibri"/>
              </a:rPr>
              <a:t>  </a:t>
            </a: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of</a:t>
            </a:r>
            <a:r>
              <a:rPr dirty="0" sz="1800" spc="80">
                <a:solidFill>
                  <a:srgbClr val="5A4D5A"/>
                </a:solidFill>
                <a:latin typeface="Calibri"/>
                <a:cs typeface="Calibri"/>
              </a:rPr>
              <a:t>  </a:t>
            </a: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productivity,</a:t>
            </a:r>
            <a:r>
              <a:rPr dirty="0" sz="1800" spc="80">
                <a:solidFill>
                  <a:srgbClr val="5A4D5A"/>
                </a:solidFill>
                <a:latin typeface="Calibri"/>
                <a:cs typeface="Calibri"/>
              </a:rPr>
              <a:t>  </a:t>
            </a: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a</a:t>
            </a:r>
            <a:r>
              <a:rPr dirty="0" sz="1800" spc="70">
                <a:solidFill>
                  <a:srgbClr val="5A4D5A"/>
                </a:solidFill>
                <a:latin typeface="Calibri"/>
                <a:cs typeface="Calibri"/>
              </a:rPr>
              <a:t>  </a:t>
            </a: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key</a:t>
            </a:r>
            <a:r>
              <a:rPr dirty="0" sz="1800" spc="70">
                <a:solidFill>
                  <a:srgbClr val="5A4D5A"/>
                </a:solidFill>
                <a:latin typeface="Calibri"/>
                <a:cs typeface="Calibri"/>
              </a:rPr>
              <a:t>  </a:t>
            </a: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characteristic</a:t>
            </a:r>
            <a:r>
              <a:rPr dirty="0" sz="1800" spc="80">
                <a:solidFill>
                  <a:srgbClr val="5A4D5A"/>
                </a:solidFill>
                <a:latin typeface="Calibri"/>
                <a:cs typeface="Calibri"/>
              </a:rPr>
              <a:t>  </a:t>
            </a: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of</a:t>
            </a:r>
            <a:r>
              <a:rPr dirty="0" sz="1800" spc="85">
                <a:solidFill>
                  <a:srgbClr val="5A4D5A"/>
                </a:solidFill>
                <a:latin typeface="Calibri"/>
                <a:cs typeface="Calibri"/>
              </a:rPr>
              <a:t>  </a:t>
            </a:r>
            <a:r>
              <a:rPr dirty="0" sz="1800" spc="-20">
                <a:solidFill>
                  <a:srgbClr val="5A4D5A"/>
                </a:solidFill>
                <a:latin typeface="Calibri"/>
                <a:cs typeface="Calibri"/>
              </a:rPr>
              <a:t>fourth-</a:t>
            </a:r>
            <a:r>
              <a:rPr dirty="0" sz="1800" spc="-10">
                <a:solidFill>
                  <a:srgbClr val="5A4D5A"/>
                </a:solidFill>
                <a:latin typeface="Calibri"/>
                <a:cs typeface="Calibri"/>
              </a:rPr>
              <a:t>generation languages.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8575" rIns="0" bIns="0" rtlCol="0" vert="horz">
            <a:spAutoFit/>
          </a:bodyPr>
          <a:lstStyle/>
          <a:p>
            <a:pPr marL="433705" marR="5080">
              <a:lnSpc>
                <a:spcPts val="5240"/>
              </a:lnSpc>
              <a:spcBef>
                <a:spcPts val="225"/>
              </a:spcBef>
            </a:pPr>
            <a:r>
              <a:rPr dirty="0"/>
              <a:t>Level</a:t>
            </a:r>
            <a:r>
              <a:rPr dirty="0" spc="-65"/>
              <a:t> </a:t>
            </a:r>
            <a:r>
              <a:rPr dirty="0"/>
              <a:t>of</a:t>
            </a:r>
            <a:r>
              <a:rPr dirty="0" spc="-70"/>
              <a:t> </a:t>
            </a:r>
            <a:r>
              <a:rPr dirty="0" spc="-10"/>
              <a:t>Programming Languages</a:t>
            </a:r>
          </a:p>
        </p:txBody>
      </p:sp>
      <p:sp>
        <p:nvSpPr>
          <p:cNvPr id="3" name="object 3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4986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180"/>
              </a:spcBef>
              <a:buFont typeface="Corbel"/>
              <a:buChar char="–"/>
              <a:tabLst>
                <a:tab pos="332740" algn="l"/>
              </a:tabLst>
            </a:pPr>
            <a:r>
              <a:rPr dirty="0"/>
              <a:t>Natural</a:t>
            </a:r>
            <a:r>
              <a:rPr dirty="0" spc="-75"/>
              <a:t> </a:t>
            </a:r>
            <a:r>
              <a:rPr dirty="0" spc="-10"/>
              <a:t>languages</a:t>
            </a:r>
          </a:p>
          <a:p>
            <a:pPr lvl="1" marL="652780" indent="-320040">
              <a:lnSpc>
                <a:spcPct val="100000"/>
              </a:lnSpc>
              <a:spcBef>
                <a:spcPts val="810"/>
              </a:spcBef>
              <a:buFont typeface="Corbel"/>
              <a:buChar char="–"/>
              <a:tabLst>
                <a:tab pos="652780" algn="l"/>
              </a:tabLst>
            </a:pPr>
            <a:r>
              <a:rPr dirty="0" sz="1200">
                <a:solidFill>
                  <a:srgbClr val="5A4D5A"/>
                </a:solidFill>
                <a:latin typeface="Calibri"/>
                <a:cs typeface="Calibri"/>
              </a:rPr>
              <a:t>The</a:t>
            </a:r>
            <a:r>
              <a:rPr dirty="0" sz="1200" spc="-25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5A4D5A"/>
                </a:solidFill>
                <a:latin typeface="Calibri"/>
                <a:cs typeface="Calibri"/>
              </a:rPr>
              <a:t>word</a:t>
            </a:r>
            <a:r>
              <a:rPr dirty="0" sz="1200" spc="-25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5A4D5A"/>
                </a:solidFill>
                <a:latin typeface="Calibri"/>
                <a:cs typeface="Calibri"/>
              </a:rPr>
              <a:t>"natural"</a:t>
            </a:r>
            <a:r>
              <a:rPr dirty="0" sz="1200" spc="-45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5A4D5A"/>
                </a:solidFill>
                <a:latin typeface="Calibri"/>
                <a:cs typeface="Calibri"/>
              </a:rPr>
              <a:t>has</a:t>
            </a:r>
            <a:r>
              <a:rPr dirty="0" sz="1200" spc="-35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5A4D5A"/>
                </a:solidFill>
                <a:latin typeface="Calibri"/>
                <a:cs typeface="Calibri"/>
              </a:rPr>
              <a:t>become</a:t>
            </a:r>
            <a:r>
              <a:rPr dirty="0" sz="1200" spc="-20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5A4D5A"/>
                </a:solidFill>
                <a:latin typeface="Calibri"/>
                <a:cs typeface="Calibri"/>
              </a:rPr>
              <a:t>almost</a:t>
            </a:r>
            <a:r>
              <a:rPr dirty="0" sz="1200" spc="5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5A4D5A"/>
                </a:solidFill>
                <a:latin typeface="Calibri"/>
                <a:cs typeface="Calibri"/>
              </a:rPr>
              <a:t>as</a:t>
            </a:r>
            <a:r>
              <a:rPr dirty="0" sz="1200" spc="-35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5A4D5A"/>
                </a:solidFill>
                <a:latin typeface="Calibri"/>
                <a:cs typeface="Calibri"/>
              </a:rPr>
              <a:t>popular</a:t>
            </a:r>
            <a:r>
              <a:rPr dirty="0" sz="1200" spc="-10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5A4D5A"/>
                </a:solidFill>
                <a:latin typeface="Calibri"/>
                <a:cs typeface="Calibri"/>
              </a:rPr>
              <a:t>in</a:t>
            </a:r>
            <a:r>
              <a:rPr dirty="0" sz="1200" spc="-30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5A4D5A"/>
                </a:solidFill>
                <a:latin typeface="Calibri"/>
                <a:cs typeface="Calibri"/>
              </a:rPr>
              <a:t>computing</a:t>
            </a:r>
            <a:r>
              <a:rPr dirty="0" sz="1200" spc="-30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5A4D5A"/>
                </a:solidFill>
                <a:latin typeface="Calibri"/>
                <a:cs typeface="Calibri"/>
              </a:rPr>
              <a:t>circles</a:t>
            </a:r>
            <a:r>
              <a:rPr dirty="0" sz="1200" spc="30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5A4D5A"/>
                </a:solidFill>
                <a:latin typeface="Calibri"/>
                <a:cs typeface="Calibri"/>
              </a:rPr>
              <a:t>as</a:t>
            </a:r>
            <a:r>
              <a:rPr dirty="0" sz="1200" spc="-35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5A4D5A"/>
                </a:solidFill>
                <a:latin typeface="Calibri"/>
                <a:cs typeface="Calibri"/>
              </a:rPr>
              <a:t>it</a:t>
            </a:r>
            <a:r>
              <a:rPr dirty="0" sz="1200" spc="-40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5A4D5A"/>
                </a:solidFill>
                <a:latin typeface="Calibri"/>
                <a:cs typeface="Calibri"/>
              </a:rPr>
              <a:t>has</a:t>
            </a:r>
            <a:r>
              <a:rPr dirty="0" sz="1200" spc="-15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5A4D5A"/>
                </a:solidFill>
                <a:latin typeface="Calibri"/>
                <a:cs typeface="Calibri"/>
              </a:rPr>
              <a:t>in</a:t>
            </a:r>
            <a:r>
              <a:rPr dirty="0" sz="1200" spc="-25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5A4D5A"/>
                </a:solidFill>
                <a:latin typeface="Calibri"/>
                <a:cs typeface="Calibri"/>
              </a:rPr>
              <a:t>the</a:t>
            </a:r>
            <a:r>
              <a:rPr dirty="0" sz="1200" spc="-40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5A4D5A"/>
                </a:solidFill>
                <a:latin typeface="Calibri"/>
                <a:cs typeface="Calibri"/>
              </a:rPr>
              <a:t>supermarket.</a:t>
            </a:r>
            <a:endParaRPr sz="1200">
              <a:latin typeface="Calibri"/>
              <a:cs typeface="Calibri"/>
            </a:endParaRPr>
          </a:p>
          <a:p>
            <a:pPr lvl="1" marL="652780" indent="-320040">
              <a:lnSpc>
                <a:spcPct val="100000"/>
              </a:lnSpc>
              <a:spcBef>
                <a:spcPts val="770"/>
              </a:spcBef>
              <a:buFont typeface="Corbel"/>
              <a:buChar char="–"/>
              <a:tabLst>
                <a:tab pos="652780" algn="l"/>
              </a:tabLst>
            </a:pPr>
            <a:r>
              <a:rPr dirty="0" sz="1200" spc="-10">
                <a:solidFill>
                  <a:srgbClr val="5A4D5A"/>
                </a:solidFill>
                <a:latin typeface="Calibri"/>
                <a:cs typeface="Calibri"/>
              </a:rPr>
              <a:t>Fifth-generation</a:t>
            </a:r>
            <a:r>
              <a:rPr dirty="0" sz="1200" spc="-20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5A4D5A"/>
                </a:solidFill>
                <a:latin typeface="Calibri"/>
                <a:cs typeface="Calibri"/>
              </a:rPr>
              <a:t>languages</a:t>
            </a:r>
            <a:r>
              <a:rPr dirty="0" sz="1200" spc="-30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5A4D5A"/>
                </a:solidFill>
                <a:latin typeface="Calibri"/>
                <a:cs typeface="Calibri"/>
              </a:rPr>
              <a:t>are,</a:t>
            </a:r>
            <a:r>
              <a:rPr dirty="0" sz="1200" spc="20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5A4D5A"/>
                </a:solidFill>
                <a:latin typeface="Calibri"/>
                <a:cs typeface="Calibri"/>
              </a:rPr>
              <a:t>as</a:t>
            </a:r>
            <a:r>
              <a:rPr dirty="0" sz="1200" spc="-10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5A4D5A"/>
                </a:solidFill>
                <a:latin typeface="Calibri"/>
                <a:cs typeface="Calibri"/>
              </a:rPr>
              <a:t>you</a:t>
            </a:r>
            <a:r>
              <a:rPr dirty="0" sz="1200" spc="5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5A4D5A"/>
                </a:solidFill>
                <a:latin typeface="Calibri"/>
                <a:cs typeface="Calibri"/>
              </a:rPr>
              <a:t>may</a:t>
            </a:r>
            <a:r>
              <a:rPr dirty="0" sz="1200" spc="-10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5A4D5A"/>
                </a:solidFill>
                <a:latin typeface="Calibri"/>
                <a:cs typeface="Calibri"/>
              </a:rPr>
              <a:t>guess,</a:t>
            </a:r>
            <a:r>
              <a:rPr dirty="0" sz="1200" spc="-25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5A4D5A"/>
                </a:solidFill>
                <a:latin typeface="Calibri"/>
                <a:cs typeface="Calibri"/>
              </a:rPr>
              <a:t>even</a:t>
            </a:r>
            <a:r>
              <a:rPr dirty="0" sz="1200" spc="-40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5A4D5A"/>
                </a:solidFill>
                <a:latin typeface="Calibri"/>
                <a:cs typeface="Calibri"/>
              </a:rPr>
              <a:t>more,</a:t>
            </a:r>
            <a:r>
              <a:rPr dirty="0" sz="1200" spc="20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200" spc="-20">
                <a:solidFill>
                  <a:srgbClr val="5A4D5A"/>
                </a:solidFill>
                <a:latin typeface="Calibri"/>
                <a:cs typeface="Calibri"/>
              </a:rPr>
              <a:t>ill-</a:t>
            </a:r>
            <a:r>
              <a:rPr dirty="0" sz="1200">
                <a:solidFill>
                  <a:srgbClr val="5A4D5A"/>
                </a:solidFill>
                <a:latin typeface="Calibri"/>
                <a:cs typeface="Calibri"/>
              </a:rPr>
              <a:t>defined</a:t>
            </a:r>
            <a:r>
              <a:rPr dirty="0" sz="1200" spc="25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5A4D5A"/>
                </a:solidFill>
                <a:latin typeface="Calibri"/>
                <a:cs typeface="Calibri"/>
              </a:rPr>
              <a:t>than </a:t>
            </a:r>
            <a:r>
              <a:rPr dirty="0" sz="1200" spc="-20">
                <a:solidFill>
                  <a:srgbClr val="5A4D5A"/>
                </a:solidFill>
                <a:latin typeface="Calibri"/>
                <a:cs typeface="Calibri"/>
              </a:rPr>
              <a:t>fourth-</a:t>
            </a:r>
            <a:r>
              <a:rPr dirty="0" sz="1200" spc="-10">
                <a:solidFill>
                  <a:srgbClr val="5A4D5A"/>
                </a:solidFill>
                <a:latin typeface="Calibri"/>
                <a:cs typeface="Calibri"/>
              </a:rPr>
              <a:t>generation</a:t>
            </a:r>
            <a:r>
              <a:rPr dirty="0" sz="1200" spc="-20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5A4D5A"/>
                </a:solidFill>
                <a:latin typeface="Calibri"/>
                <a:cs typeface="Calibri"/>
              </a:rPr>
              <a:t>languages.</a:t>
            </a:r>
            <a:endParaRPr sz="1200">
              <a:latin typeface="Calibri"/>
              <a:cs typeface="Calibri"/>
            </a:endParaRPr>
          </a:p>
          <a:p>
            <a:pPr lvl="1" marL="652780" indent="-320040">
              <a:lnSpc>
                <a:spcPts val="1380"/>
              </a:lnSpc>
              <a:spcBef>
                <a:spcPts val="770"/>
              </a:spcBef>
              <a:buFont typeface="Corbel"/>
              <a:buChar char="–"/>
              <a:tabLst>
                <a:tab pos="652780" algn="l"/>
              </a:tabLst>
            </a:pPr>
            <a:r>
              <a:rPr dirty="0" sz="1200">
                <a:solidFill>
                  <a:srgbClr val="5A4D5A"/>
                </a:solidFill>
                <a:latin typeface="Calibri"/>
                <a:cs typeface="Calibri"/>
              </a:rPr>
              <a:t>They</a:t>
            </a:r>
            <a:r>
              <a:rPr dirty="0" sz="1200" spc="110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5A4D5A"/>
                </a:solidFill>
                <a:latin typeface="Calibri"/>
                <a:cs typeface="Calibri"/>
              </a:rPr>
              <a:t>are</a:t>
            </a:r>
            <a:r>
              <a:rPr dirty="0" sz="1200" spc="130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5A4D5A"/>
                </a:solidFill>
                <a:latin typeface="Calibri"/>
                <a:cs typeface="Calibri"/>
              </a:rPr>
              <a:t>most</a:t>
            </a:r>
            <a:r>
              <a:rPr dirty="0" sz="1200" spc="135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5A4D5A"/>
                </a:solidFill>
                <a:latin typeface="Calibri"/>
                <a:cs typeface="Calibri"/>
              </a:rPr>
              <a:t>often</a:t>
            </a:r>
            <a:r>
              <a:rPr dirty="0" sz="1200" spc="120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5A4D5A"/>
                </a:solidFill>
                <a:latin typeface="Calibri"/>
                <a:cs typeface="Calibri"/>
              </a:rPr>
              <a:t>called</a:t>
            </a:r>
            <a:r>
              <a:rPr dirty="0" sz="1200" spc="120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5A4D5A"/>
                </a:solidFill>
                <a:latin typeface="Calibri"/>
                <a:cs typeface="Calibri"/>
              </a:rPr>
              <a:t>natural</a:t>
            </a:r>
            <a:r>
              <a:rPr dirty="0" sz="1200" spc="125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5A4D5A"/>
                </a:solidFill>
                <a:latin typeface="Calibri"/>
                <a:cs typeface="Calibri"/>
              </a:rPr>
              <a:t>languages</a:t>
            </a:r>
            <a:r>
              <a:rPr dirty="0" sz="1200" spc="114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5A4D5A"/>
                </a:solidFill>
                <a:latin typeface="Calibri"/>
                <a:cs typeface="Calibri"/>
              </a:rPr>
              <a:t>because</a:t>
            </a:r>
            <a:r>
              <a:rPr dirty="0" sz="1200" spc="110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5A4D5A"/>
                </a:solidFill>
                <a:latin typeface="Calibri"/>
                <a:cs typeface="Calibri"/>
              </a:rPr>
              <a:t>they</a:t>
            </a:r>
            <a:r>
              <a:rPr dirty="0" sz="1200" spc="114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5A4D5A"/>
                </a:solidFill>
                <a:latin typeface="Calibri"/>
                <a:cs typeface="Calibri"/>
              </a:rPr>
              <a:t>resemble</a:t>
            </a:r>
            <a:r>
              <a:rPr dirty="0" sz="1200" spc="135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5A4D5A"/>
                </a:solidFill>
                <a:latin typeface="Calibri"/>
                <a:cs typeface="Calibri"/>
              </a:rPr>
              <a:t>the</a:t>
            </a:r>
            <a:r>
              <a:rPr dirty="0" sz="1200" spc="110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5A4D5A"/>
                </a:solidFill>
                <a:latin typeface="Calibri"/>
                <a:cs typeface="Calibri"/>
              </a:rPr>
              <a:t>"natural"</a:t>
            </a:r>
            <a:r>
              <a:rPr dirty="0" sz="1200" spc="125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5A4D5A"/>
                </a:solidFill>
                <a:latin typeface="Calibri"/>
                <a:cs typeface="Calibri"/>
              </a:rPr>
              <a:t>spoken</a:t>
            </a:r>
            <a:r>
              <a:rPr dirty="0" sz="1200" spc="125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5A4D5A"/>
                </a:solidFill>
                <a:latin typeface="Calibri"/>
                <a:cs typeface="Calibri"/>
              </a:rPr>
              <a:t>the</a:t>
            </a:r>
            <a:r>
              <a:rPr dirty="0" sz="1200" spc="130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5A4D5A"/>
                </a:solidFill>
                <a:latin typeface="Calibri"/>
                <a:cs typeface="Calibri"/>
              </a:rPr>
              <a:t>English</a:t>
            </a:r>
            <a:r>
              <a:rPr dirty="0" sz="1200" spc="120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5A4D5A"/>
                </a:solidFill>
                <a:latin typeface="Calibri"/>
                <a:cs typeface="Calibri"/>
              </a:rPr>
              <a:t>language,</a:t>
            </a:r>
            <a:r>
              <a:rPr dirty="0" sz="1200" spc="100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5A4D5A"/>
                </a:solidFill>
                <a:latin typeface="Calibri"/>
                <a:cs typeface="Calibri"/>
              </a:rPr>
              <a:t>and,</a:t>
            </a:r>
            <a:r>
              <a:rPr dirty="0" sz="1200" spc="114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5A4D5A"/>
                </a:solidFill>
                <a:latin typeface="Calibri"/>
                <a:cs typeface="Calibri"/>
              </a:rPr>
              <a:t>to</a:t>
            </a:r>
            <a:r>
              <a:rPr dirty="0" sz="1200" spc="95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200" spc="-25">
                <a:solidFill>
                  <a:srgbClr val="5A4D5A"/>
                </a:solidFill>
                <a:latin typeface="Calibri"/>
                <a:cs typeface="Calibri"/>
              </a:rPr>
              <a:t>the</a:t>
            </a:r>
            <a:endParaRPr sz="1200">
              <a:latin typeface="Calibri"/>
              <a:cs typeface="Calibri"/>
            </a:endParaRPr>
          </a:p>
          <a:p>
            <a:pPr marL="652780">
              <a:lnSpc>
                <a:spcPts val="1380"/>
              </a:lnSpc>
            </a:pPr>
            <a:r>
              <a:rPr dirty="0" sz="1200"/>
              <a:t>manager</a:t>
            </a:r>
            <a:r>
              <a:rPr dirty="0" sz="1200" spc="-45"/>
              <a:t> </a:t>
            </a:r>
            <a:r>
              <a:rPr dirty="0" sz="1200"/>
              <a:t>new</a:t>
            </a:r>
            <a:r>
              <a:rPr dirty="0" sz="1200" spc="-35"/>
              <a:t> </a:t>
            </a:r>
            <a:r>
              <a:rPr dirty="0" sz="1200"/>
              <a:t>to</a:t>
            </a:r>
            <a:r>
              <a:rPr dirty="0" sz="1200" spc="-45"/>
              <a:t> </a:t>
            </a:r>
            <a:r>
              <a:rPr dirty="0" sz="1200" spc="-10"/>
              <a:t>computers</a:t>
            </a:r>
            <a:r>
              <a:rPr dirty="0" sz="1200" spc="15"/>
              <a:t> </a:t>
            </a:r>
            <a:r>
              <a:rPr dirty="0" sz="1200"/>
              <a:t>for</a:t>
            </a:r>
            <a:r>
              <a:rPr dirty="0" sz="1200" spc="-25"/>
              <a:t> </a:t>
            </a:r>
            <a:r>
              <a:rPr dirty="0" sz="1200"/>
              <a:t>whom</a:t>
            </a:r>
            <a:r>
              <a:rPr dirty="0" sz="1200" spc="-15"/>
              <a:t> </a:t>
            </a:r>
            <a:r>
              <a:rPr dirty="0" sz="1200"/>
              <a:t>these</a:t>
            </a:r>
            <a:r>
              <a:rPr dirty="0" sz="1200" spc="-35"/>
              <a:t> </a:t>
            </a:r>
            <a:r>
              <a:rPr dirty="0" sz="1200"/>
              <a:t>languages</a:t>
            </a:r>
            <a:r>
              <a:rPr dirty="0" sz="1200" spc="-40"/>
              <a:t> </a:t>
            </a:r>
            <a:r>
              <a:rPr dirty="0" sz="1200"/>
              <a:t>are</a:t>
            </a:r>
            <a:r>
              <a:rPr dirty="0" sz="1200" spc="-15"/>
              <a:t> </a:t>
            </a:r>
            <a:r>
              <a:rPr dirty="0" sz="1200"/>
              <a:t>now</a:t>
            </a:r>
            <a:r>
              <a:rPr dirty="0" sz="1200" spc="-10"/>
              <a:t> </a:t>
            </a:r>
            <a:r>
              <a:rPr dirty="0" sz="1200"/>
              <a:t>aimed,</a:t>
            </a:r>
            <a:r>
              <a:rPr dirty="0" sz="1200" spc="-30"/>
              <a:t> </a:t>
            </a:r>
            <a:r>
              <a:rPr dirty="0" sz="1200"/>
              <a:t>natural</a:t>
            </a:r>
            <a:r>
              <a:rPr dirty="0" sz="1200" spc="-25"/>
              <a:t> </a:t>
            </a:r>
            <a:r>
              <a:rPr dirty="0" sz="1200"/>
              <a:t>means</a:t>
            </a:r>
            <a:r>
              <a:rPr dirty="0" sz="1200" spc="-25"/>
              <a:t> </a:t>
            </a:r>
            <a:r>
              <a:rPr dirty="0" sz="1200" spc="-10"/>
              <a:t>human-like.</a:t>
            </a:r>
            <a:endParaRPr sz="1200"/>
          </a:p>
          <a:p>
            <a:pPr lvl="1" marL="652780" marR="5080" indent="-320040">
              <a:lnSpc>
                <a:spcPts val="1300"/>
              </a:lnSpc>
              <a:spcBef>
                <a:spcPts val="925"/>
              </a:spcBef>
              <a:buFont typeface="Corbel"/>
              <a:buChar char="–"/>
              <a:tabLst>
                <a:tab pos="652780" algn="l"/>
              </a:tabLst>
            </a:pPr>
            <a:r>
              <a:rPr dirty="0" sz="1200">
                <a:solidFill>
                  <a:srgbClr val="5A4D5A"/>
                </a:solidFill>
                <a:latin typeface="Calibri"/>
                <a:cs typeface="Calibri"/>
              </a:rPr>
              <a:t>Instead</a:t>
            </a:r>
            <a:r>
              <a:rPr dirty="0" sz="1200" spc="-20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5A4D5A"/>
                </a:solidFill>
                <a:latin typeface="Calibri"/>
                <a:cs typeface="Calibri"/>
              </a:rPr>
              <a:t>of</a:t>
            </a:r>
            <a:r>
              <a:rPr dirty="0" sz="1200" spc="5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5A4D5A"/>
                </a:solidFill>
                <a:latin typeface="Calibri"/>
                <a:cs typeface="Calibri"/>
              </a:rPr>
              <a:t>being</a:t>
            </a:r>
            <a:r>
              <a:rPr dirty="0" sz="1200" spc="-5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5A4D5A"/>
                </a:solidFill>
                <a:latin typeface="Calibri"/>
                <a:cs typeface="Calibri"/>
              </a:rPr>
              <a:t>forced</a:t>
            </a:r>
            <a:r>
              <a:rPr dirty="0" sz="1200" spc="-20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5A4D5A"/>
                </a:solidFill>
                <a:latin typeface="Calibri"/>
                <a:cs typeface="Calibri"/>
              </a:rPr>
              <a:t>to key correct</a:t>
            </a:r>
            <a:r>
              <a:rPr dirty="0" sz="1200" spc="-10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5A4D5A"/>
                </a:solidFill>
                <a:latin typeface="Calibri"/>
                <a:cs typeface="Calibri"/>
              </a:rPr>
              <a:t>commands</a:t>
            </a:r>
            <a:r>
              <a:rPr dirty="0" sz="1200" spc="20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5A4D5A"/>
                </a:solidFill>
                <a:latin typeface="Calibri"/>
                <a:cs typeface="Calibri"/>
              </a:rPr>
              <a:t>and</a:t>
            </a:r>
            <a:r>
              <a:rPr dirty="0" sz="1200" spc="-25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5A4D5A"/>
                </a:solidFill>
                <a:latin typeface="Calibri"/>
                <a:cs typeface="Calibri"/>
              </a:rPr>
              <a:t>data</a:t>
            </a:r>
            <a:r>
              <a:rPr dirty="0" sz="1200" spc="-15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5A4D5A"/>
                </a:solidFill>
                <a:latin typeface="Calibri"/>
                <a:cs typeface="Calibri"/>
              </a:rPr>
              <a:t>names</a:t>
            </a:r>
            <a:r>
              <a:rPr dirty="0" sz="1200" spc="20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5A4D5A"/>
                </a:solidFill>
                <a:latin typeface="Calibri"/>
                <a:cs typeface="Calibri"/>
              </a:rPr>
              <a:t>in</a:t>
            </a:r>
            <a:r>
              <a:rPr dirty="0" sz="1200" spc="-20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5A4D5A"/>
                </a:solidFill>
                <a:latin typeface="Calibri"/>
                <a:cs typeface="Calibri"/>
              </a:rPr>
              <a:t>the</a:t>
            </a:r>
            <a:r>
              <a:rPr dirty="0" sz="1200" spc="10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5A4D5A"/>
                </a:solidFill>
                <a:latin typeface="Calibri"/>
                <a:cs typeface="Calibri"/>
              </a:rPr>
              <a:t>correct</a:t>
            </a:r>
            <a:r>
              <a:rPr dirty="0" sz="1200" spc="15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200" spc="-20">
                <a:solidFill>
                  <a:srgbClr val="5A4D5A"/>
                </a:solidFill>
                <a:latin typeface="Calibri"/>
                <a:cs typeface="Calibri"/>
              </a:rPr>
              <a:t>order,</a:t>
            </a:r>
            <a:r>
              <a:rPr dirty="0" sz="1200" spc="-25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5A4D5A"/>
                </a:solidFill>
                <a:latin typeface="Calibri"/>
                <a:cs typeface="Calibri"/>
              </a:rPr>
              <a:t>a</a:t>
            </a:r>
            <a:r>
              <a:rPr dirty="0" sz="1200" spc="10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5A4D5A"/>
                </a:solidFill>
                <a:latin typeface="Calibri"/>
                <a:cs typeface="Calibri"/>
              </a:rPr>
              <a:t>manager</a:t>
            </a:r>
            <a:r>
              <a:rPr dirty="0" sz="1200" spc="-25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5A4D5A"/>
                </a:solidFill>
                <a:latin typeface="Calibri"/>
                <a:cs typeface="Calibri"/>
              </a:rPr>
              <a:t>tells</a:t>
            </a:r>
            <a:r>
              <a:rPr dirty="0" sz="1200" spc="-5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5A4D5A"/>
                </a:solidFill>
                <a:latin typeface="Calibri"/>
                <a:cs typeface="Calibri"/>
              </a:rPr>
              <a:t>the</a:t>
            </a:r>
            <a:r>
              <a:rPr dirty="0" sz="1200" spc="10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5A4D5A"/>
                </a:solidFill>
                <a:latin typeface="Calibri"/>
                <a:cs typeface="Calibri"/>
              </a:rPr>
              <a:t>computer</a:t>
            </a:r>
            <a:r>
              <a:rPr dirty="0" sz="1200" spc="-15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5A4D5A"/>
                </a:solidFill>
                <a:latin typeface="Calibri"/>
                <a:cs typeface="Calibri"/>
              </a:rPr>
              <a:t>what</a:t>
            </a:r>
            <a:r>
              <a:rPr dirty="0" sz="1200" spc="-5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5A4D5A"/>
                </a:solidFill>
                <a:latin typeface="Calibri"/>
                <a:cs typeface="Calibri"/>
              </a:rPr>
              <a:t>to</a:t>
            </a:r>
            <a:r>
              <a:rPr dirty="0" sz="1200" spc="-25">
                <a:solidFill>
                  <a:srgbClr val="5A4D5A"/>
                </a:solidFill>
                <a:latin typeface="Calibri"/>
                <a:cs typeface="Calibri"/>
              </a:rPr>
              <a:t> do </a:t>
            </a:r>
            <a:r>
              <a:rPr dirty="0" sz="1200">
                <a:solidFill>
                  <a:srgbClr val="5A4D5A"/>
                </a:solidFill>
                <a:latin typeface="Calibri"/>
                <a:cs typeface="Calibri"/>
              </a:rPr>
              <a:t>by</a:t>
            </a:r>
            <a:r>
              <a:rPr dirty="0" sz="1200" spc="-15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5A4D5A"/>
                </a:solidFill>
                <a:latin typeface="Calibri"/>
                <a:cs typeface="Calibri"/>
              </a:rPr>
              <a:t>keying</a:t>
            </a:r>
            <a:r>
              <a:rPr dirty="0" sz="1200" spc="-35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5A4D5A"/>
                </a:solidFill>
                <a:latin typeface="Calibri"/>
                <a:cs typeface="Calibri"/>
              </a:rPr>
              <a:t>in</a:t>
            </a:r>
            <a:r>
              <a:rPr dirty="0" sz="1200" spc="-5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5A4D5A"/>
                </a:solidFill>
                <a:latin typeface="Calibri"/>
                <a:cs typeface="Calibri"/>
              </a:rPr>
              <a:t>his</a:t>
            </a:r>
            <a:r>
              <a:rPr dirty="0" sz="1200" spc="10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5A4D5A"/>
                </a:solidFill>
                <a:latin typeface="Calibri"/>
                <a:cs typeface="Calibri"/>
              </a:rPr>
              <a:t>or</a:t>
            </a:r>
            <a:r>
              <a:rPr dirty="0" sz="1200" spc="-10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5A4D5A"/>
                </a:solidFill>
                <a:latin typeface="Calibri"/>
                <a:cs typeface="Calibri"/>
              </a:rPr>
              <a:t>her</a:t>
            </a:r>
            <a:r>
              <a:rPr dirty="0" sz="1200" spc="-10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5A4D5A"/>
                </a:solidFill>
                <a:latin typeface="Calibri"/>
                <a:cs typeface="Calibri"/>
              </a:rPr>
              <a:t>own</a:t>
            </a:r>
            <a:r>
              <a:rPr dirty="0" sz="1200" spc="-5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5A4D5A"/>
                </a:solidFill>
                <a:latin typeface="Calibri"/>
                <a:cs typeface="Calibri"/>
              </a:rPr>
              <a:t>words.</a:t>
            </a:r>
            <a:endParaRPr sz="1200">
              <a:latin typeface="Calibri"/>
              <a:cs typeface="Calibri"/>
            </a:endParaRPr>
          </a:p>
          <a:p>
            <a:pPr lvl="1" marL="652780" marR="6985" indent="-320040">
              <a:lnSpc>
                <a:spcPts val="1320"/>
              </a:lnSpc>
              <a:spcBef>
                <a:spcPts val="890"/>
              </a:spcBef>
              <a:buFont typeface="Corbel"/>
              <a:buChar char="–"/>
              <a:tabLst>
                <a:tab pos="652780" algn="l"/>
              </a:tabLst>
            </a:pPr>
            <a:r>
              <a:rPr dirty="0" sz="1200">
                <a:solidFill>
                  <a:srgbClr val="5A4D5A"/>
                </a:solidFill>
                <a:latin typeface="Calibri"/>
                <a:cs typeface="Calibri"/>
              </a:rPr>
              <a:t>A</a:t>
            </a:r>
            <a:r>
              <a:rPr dirty="0" sz="1200" spc="-15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5A4D5A"/>
                </a:solidFill>
                <a:latin typeface="Calibri"/>
                <a:cs typeface="Calibri"/>
              </a:rPr>
              <a:t>manager</a:t>
            </a:r>
            <a:r>
              <a:rPr dirty="0" sz="1200" spc="-20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5A4D5A"/>
                </a:solidFill>
                <a:latin typeface="Calibri"/>
                <a:cs typeface="Calibri"/>
              </a:rPr>
              <a:t>can</a:t>
            </a:r>
            <a:r>
              <a:rPr dirty="0" sz="1200" spc="5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5A4D5A"/>
                </a:solidFill>
                <a:latin typeface="Calibri"/>
                <a:cs typeface="Calibri"/>
              </a:rPr>
              <a:t>say</a:t>
            </a:r>
            <a:r>
              <a:rPr dirty="0" sz="1200" spc="-5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5A4D5A"/>
                </a:solidFill>
                <a:latin typeface="Calibri"/>
                <a:cs typeface="Calibri"/>
              </a:rPr>
              <a:t>the</a:t>
            </a:r>
            <a:r>
              <a:rPr dirty="0" sz="1200" spc="5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5A4D5A"/>
                </a:solidFill>
                <a:latin typeface="Calibri"/>
                <a:cs typeface="Calibri"/>
              </a:rPr>
              <a:t>samething any</a:t>
            </a:r>
            <a:r>
              <a:rPr dirty="0" sz="1200" spc="-5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5A4D5A"/>
                </a:solidFill>
                <a:latin typeface="Calibri"/>
                <a:cs typeface="Calibri"/>
              </a:rPr>
              <a:t>number of</a:t>
            </a:r>
            <a:r>
              <a:rPr dirty="0" sz="1200" spc="25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5A4D5A"/>
                </a:solidFill>
                <a:latin typeface="Calibri"/>
                <a:cs typeface="Calibri"/>
              </a:rPr>
              <a:t>ways.</a:t>
            </a:r>
            <a:r>
              <a:rPr dirty="0" sz="1200" spc="-5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5A4D5A"/>
                </a:solidFill>
                <a:latin typeface="Calibri"/>
                <a:cs typeface="Calibri"/>
              </a:rPr>
              <a:t>For</a:t>
            </a:r>
            <a:r>
              <a:rPr dirty="0" sz="1200" spc="-5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5A4D5A"/>
                </a:solidFill>
                <a:latin typeface="Calibri"/>
                <a:cs typeface="Calibri"/>
              </a:rPr>
              <a:t>example, "Get</a:t>
            </a:r>
            <a:r>
              <a:rPr dirty="0" sz="1200" spc="-5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5A4D5A"/>
                </a:solidFill>
                <a:latin typeface="Calibri"/>
                <a:cs typeface="Calibri"/>
              </a:rPr>
              <a:t>me</a:t>
            </a:r>
            <a:r>
              <a:rPr dirty="0" sz="1200" spc="-15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5A4D5A"/>
                </a:solidFill>
                <a:latin typeface="Calibri"/>
                <a:cs typeface="Calibri"/>
              </a:rPr>
              <a:t>tennis</a:t>
            </a:r>
            <a:r>
              <a:rPr dirty="0" sz="1200" spc="20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5A4D5A"/>
                </a:solidFill>
                <a:latin typeface="Calibri"/>
                <a:cs typeface="Calibri"/>
              </a:rPr>
              <a:t>racket</a:t>
            </a:r>
            <a:r>
              <a:rPr dirty="0" sz="1200" spc="15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5A4D5A"/>
                </a:solidFill>
                <a:latin typeface="Calibri"/>
                <a:cs typeface="Calibri"/>
              </a:rPr>
              <a:t>sales</a:t>
            </a:r>
            <a:r>
              <a:rPr dirty="0" sz="1200" spc="25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5A4D5A"/>
                </a:solidFill>
                <a:latin typeface="Calibri"/>
                <a:cs typeface="Calibri"/>
              </a:rPr>
              <a:t>for</a:t>
            </a:r>
            <a:r>
              <a:rPr dirty="0" sz="1200" spc="-25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5A4D5A"/>
                </a:solidFill>
                <a:latin typeface="Calibri"/>
                <a:cs typeface="Calibri"/>
              </a:rPr>
              <a:t>January"</a:t>
            </a:r>
            <a:r>
              <a:rPr dirty="0" sz="1200" spc="-10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5A4D5A"/>
                </a:solidFill>
                <a:latin typeface="Calibri"/>
                <a:cs typeface="Calibri"/>
              </a:rPr>
              <a:t>works</a:t>
            </a:r>
            <a:r>
              <a:rPr dirty="0" sz="1200" spc="-5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5A4D5A"/>
                </a:solidFill>
                <a:latin typeface="Calibri"/>
                <a:cs typeface="Calibri"/>
              </a:rPr>
              <a:t>just</a:t>
            </a:r>
            <a:r>
              <a:rPr dirty="0" sz="1200" spc="15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5A4D5A"/>
                </a:solidFill>
                <a:latin typeface="Calibri"/>
                <a:cs typeface="Calibri"/>
              </a:rPr>
              <a:t>as</a:t>
            </a:r>
            <a:r>
              <a:rPr dirty="0" sz="1200" spc="15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200" spc="-20">
                <a:solidFill>
                  <a:srgbClr val="5A4D5A"/>
                </a:solidFill>
                <a:latin typeface="Calibri"/>
                <a:cs typeface="Calibri"/>
              </a:rPr>
              <a:t>well </a:t>
            </a:r>
            <a:r>
              <a:rPr dirty="0" sz="1200">
                <a:solidFill>
                  <a:srgbClr val="5A4D5A"/>
                </a:solidFill>
                <a:latin typeface="Calibri"/>
                <a:cs typeface="Calibri"/>
              </a:rPr>
              <a:t>as</a:t>
            </a:r>
            <a:r>
              <a:rPr dirty="0" sz="1200" spc="-35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5A4D5A"/>
                </a:solidFill>
                <a:latin typeface="Calibri"/>
                <a:cs typeface="Calibri"/>
              </a:rPr>
              <a:t>"I</a:t>
            </a:r>
            <a:r>
              <a:rPr dirty="0" sz="1200" spc="-30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5A4D5A"/>
                </a:solidFill>
                <a:latin typeface="Calibri"/>
                <a:cs typeface="Calibri"/>
              </a:rPr>
              <a:t>want</a:t>
            </a:r>
            <a:r>
              <a:rPr dirty="0" sz="1200" spc="-30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5A4D5A"/>
                </a:solidFill>
                <a:latin typeface="Calibri"/>
                <a:cs typeface="Calibri"/>
              </a:rPr>
              <a:t>January</a:t>
            </a:r>
            <a:r>
              <a:rPr dirty="0" sz="1200" spc="-30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5A4D5A"/>
                </a:solidFill>
                <a:latin typeface="Calibri"/>
                <a:cs typeface="Calibri"/>
              </a:rPr>
              <a:t>tennis</a:t>
            </a:r>
            <a:r>
              <a:rPr dirty="0" sz="1200" spc="-5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5A4D5A"/>
                </a:solidFill>
                <a:latin typeface="Calibri"/>
                <a:cs typeface="Calibri"/>
              </a:rPr>
              <a:t>racket revenues.“</a:t>
            </a:r>
            <a:endParaRPr sz="1200">
              <a:latin typeface="Calibri"/>
              <a:cs typeface="Calibri"/>
            </a:endParaRPr>
          </a:p>
          <a:p>
            <a:pPr lvl="1" marL="652780" indent="-320040">
              <a:lnSpc>
                <a:spcPct val="100000"/>
              </a:lnSpc>
              <a:spcBef>
                <a:spcPts val="745"/>
              </a:spcBef>
              <a:buFont typeface="Corbel"/>
              <a:buChar char="–"/>
              <a:tabLst>
                <a:tab pos="652780" algn="l"/>
              </a:tabLst>
            </a:pPr>
            <a:r>
              <a:rPr dirty="0" sz="1200">
                <a:solidFill>
                  <a:srgbClr val="5A4D5A"/>
                </a:solidFill>
                <a:latin typeface="Calibri"/>
                <a:cs typeface="Calibri"/>
              </a:rPr>
              <a:t>Such</a:t>
            </a:r>
            <a:r>
              <a:rPr dirty="0" sz="1200" spc="-30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5A4D5A"/>
                </a:solidFill>
                <a:latin typeface="Calibri"/>
                <a:cs typeface="Calibri"/>
              </a:rPr>
              <a:t>a</a:t>
            </a:r>
            <a:r>
              <a:rPr dirty="0" sz="1200" spc="-40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5A4D5A"/>
                </a:solidFill>
                <a:latin typeface="Calibri"/>
                <a:cs typeface="Calibri"/>
              </a:rPr>
              <a:t>request</a:t>
            </a:r>
            <a:r>
              <a:rPr dirty="0" sz="1200" spc="-15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5A4D5A"/>
                </a:solidFill>
                <a:latin typeface="Calibri"/>
                <a:cs typeface="Calibri"/>
              </a:rPr>
              <a:t>may</a:t>
            </a:r>
            <a:r>
              <a:rPr dirty="0" sz="1200" spc="-30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5A4D5A"/>
                </a:solidFill>
                <a:latin typeface="Calibri"/>
                <a:cs typeface="Calibri"/>
              </a:rPr>
              <a:t>contain</a:t>
            </a:r>
            <a:r>
              <a:rPr dirty="0" sz="1200" spc="-30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5A4D5A"/>
                </a:solidFill>
                <a:latin typeface="Calibri"/>
                <a:cs typeface="Calibri"/>
              </a:rPr>
              <a:t>misspelt</a:t>
            </a:r>
            <a:r>
              <a:rPr dirty="0" sz="1200" spc="-10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5A4D5A"/>
                </a:solidFill>
                <a:latin typeface="Calibri"/>
                <a:cs typeface="Calibri"/>
              </a:rPr>
              <a:t>words,</a:t>
            </a:r>
            <a:r>
              <a:rPr dirty="0" sz="1200" spc="-30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5A4D5A"/>
                </a:solidFill>
                <a:latin typeface="Calibri"/>
                <a:cs typeface="Calibri"/>
              </a:rPr>
              <a:t>lack</a:t>
            </a:r>
            <a:r>
              <a:rPr dirty="0" sz="1200" spc="-15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5A4D5A"/>
                </a:solidFill>
                <a:latin typeface="Calibri"/>
                <a:cs typeface="Calibri"/>
              </a:rPr>
              <a:t>articles</a:t>
            </a:r>
            <a:r>
              <a:rPr dirty="0" sz="1200" spc="20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5A4D5A"/>
                </a:solidFill>
                <a:latin typeface="Calibri"/>
                <a:cs typeface="Calibri"/>
              </a:rPr>
              <a:t>and</a:t>
            </a:r>
            <a:r>
              <a:rPr dirty="0" sz="1200" spc="-50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5A4D5A"/>
                </a:solidFill>
                <a:latin typeface="Calibri"/>
                <a:cs typeface="Calibri"/>
              </a:rPr>
              <a:t>verbs,</a:t>
            </a:r>
            <a:r>
              <a:rPr dirty="0" sz="1200" spc="-50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5A4D5A"/>
                </a:solidFill>
                <a:latin typeface="Calibri"/>
                <a:cs typeface="Calibri"/>
              </a:rPr>
              <a:t>and</a:t>
            </a:r>
            <a:r>
              <a:rPr dirty="0" sz="1200" spc="-45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5A4D5A"/>
                </a:solidFill>
                <a:latin typeface="Calibri"/>
                <a:cs typeface="Calibri"/>
              </a:rPr>
              <a:t>even</a:t>
            </a:r>
            <a:r>
              <a:rPr dirty="0" sz="1200" spc="-45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5A4D5A"/>
                </a:solidFill>
                <a:latin typeface="Calibri"/>
                <a:cs typeface="Calibri"/>
              </a:rPr>
              <a:t>use</a:t>
            </a:r>
            <a:r>
              <a:rPr dirty="0" sz="1200" spc="-35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5A4D5A"/>
                </a:solidFill>
                <a:latin typeface="Calibri"/>
                <a:cs typeface="Calibri"/>
              </a:rPr>
              <a:t>slang.</a:t>
            </a:r>
            <a:endParaRPr sz="1200">
              <a:latin typeface="Calibri"/>
              <a:cs typeface="Calibri"/>
            </a:endParaRPr>
          </a:p>
          <a:p>
            <a:pPr lvl="1" marL="652780" indent="-320040">
              <a:lnSpc>
                <a:spcPct val="100000"/>
              </a:lnSpc>
              <a:spcBef>
                <a:spcPts val="770"/>
              </a:spcBef>
              <a:buFont typeface="Corbel"/>
              <a:buChar char="–"/>
              <a:tabLst>
                <a:tab pos="652780" algn="l"/>
              </a:tabLst>
            </a:pPr>
            <a:r>
              <a:rPr dirty="0" sz="1200">
                <a:solidFill>
                  <a:srgbClr val="5A4D5A"/>
                </a:solidFill>
                <a:latin typeface="Calibri"/>
                <a:cs typeface="Calibri"/>
              </a:rPr>
              <a:t>The</a:t>
            </a:r>
            <a:r>
              <a:rPr dirty="0" sz="1200" spc="-15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5A4D5A"/>
                </a:solidFill>
                <a:latin typeface="Calibri"/>
                <a:cs typeface="Calibri"/>
              </a:rPr>
              <a:t>natural</a:t>
            </a:r>
            <a:r>
              <a:rPr dirty="0" sz="1200" spc="-35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5A4D5A"/>
                </a:solidFill>
                <a:latin typeface="Calibri"/>
                <a:cs typeface="Calibri"/>
              </a:rPr>
              <a:t>language</a:t>
            </a:r>
            <a:r>
              <a:rPr dirty="0" sz="1200" spc="-30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5A4D5A"/>
                </a:solidFill>
                <a:latin typeface="Calibri"/>
                <a:cs typeface="Calibri"/>
              </a:rPr>
              <a:t>translates</a:t>
            </a:r>
            <a:r>
              <a:rPr dirty="0" sz="1200" spc="-15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5A4D5A"/>
                </a:solidFill>
                <a:latin typeface="Calibri"/>
                <a:cs typeface="Calibri"/>
              </a:rPr>
              <a:t>human</a:t>
            </a:r>
            <a:r>
              <a:rPr dirty="0" sz="1200" spc="-40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5A4D5A"/>
                </a:solidFill>
                <a:latin typeface="Calibri"/>
                <a:cs typeface="Calibri"/>
              </a:rPr>
              <a:t>instructions-</a:t>
            </a:r>
            <a:r>
              <a:rPr dirty="0" sz="1200">
                <a:solidFill>
                  <a:srgbClr val="5A4D5A"/>
                </a:solidFill>
                <a:latin typeface="Calibri"/>
                <a:cs typeface="Calibri"/>
              </a:rPr>
              <a:t>bad</a:t>
            </a:r>
            <a:r>
              <a:rPr dirty="0" sz="1200" spc="10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200" spc="-20">
                <a:solidFill>
                  <a:srgbClr val="5A4D5A"/>
                </a:solidFill>
                <a:latin typeface="Calibri"/>
                <a:cs typeface="Calibri"/>
              </a:rPr>
              <a:t>grammar, </a:t>
            </a:r>
            <a:r>
              <a:rPr dirty="0" sz="1200">
                <a:solidFill>
                  <a:srgbClr val="5A4D5A"/>
                </a:solidFill>
                <a:latin typeface="Calibri"/>
                <a:cs typeface="Calibri"/>
              </a:rPr>
              <a:t>slang,</a:t>
            </a:r>
            <a:r>
              <a:rPr dirty="0" sz="1200" spc="-40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5A4D5A"/>
                </a:solidFill>
                <a:latin typeface="Calibri"/>
                <a:cs typeface="Calibri"/>
              </a:rPr>
              <a:t>and</a:t>
            </a:r>
            <a:r>
              <a:rPr dirty="0" sz="1200" spc="-15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5A4D5A"/>
                </a:solidFill>
                <a:latin typeface="Calibri"/>
                <a:cs typeface="Calibri"/>
              </a:rPr>
              <a:t>all-</a:t>
            </a:r>
            <a:r>
              <a:rPr dirty="0" sz="1200">
                <a:solidFill>
                  <a:srgbClr val="5A4D5A"/>
                </a:solidFill>
                <a:latin typeface="Calibri"/>
                <a:cs typeface="Calibri"/>
              </a:rPr>
              <a:t>into</a:t>
            </a:r>
            <a:r>
              <a:rPr dirty="0" sz="1200" spc="-20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5A4D5A"/>
                </a:solidFill>
                <a:latin typeface="Calibri"/>
                <a:cs typeface="Calibri"/>
              </a:rPr>
              <a:t>code</a:t>
            </a:r>
            <a:r>
              <a:rPr dirty="0" sz="1200" spc="-5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5A4D5A"/>
                </a:solidFill>
                <a:latin typeface="Calibri"/>
                <a:cs typeface="Calibri"/>
              </a:rPr>
              <a:t>the</a:t>
            </a:r>
            <a:r>
              <a:rPr dirty="0" sz="1200" spc="-30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5A4D5A"/>
                </a:solidFill>
                <a:latin typeface="Calibri"/>
                <a:cs typeface="Calibri"/>
              </a:rPr>
              <a:t>computer</a:t>
            </a:r>
            <a:r>
              <a:rPr dirty="0" sz="1200" spc="5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5A4D5A"/>
                </a:solidFill>
                <a:latin typeface="Calibri"/>
                <a:cs typeface="Calibri"/>
              </a:rPr>
              <a:t>understands.</a:t>
            </a:r>
            <a:endParaRPr sz="1200">
              <a:latin typeface="Calibri"/>
              <a:cs typeface="Calibri"/>
            </a:endParaRPr>
          </a:p>
          <a:p>
            <a:pPr lvl="1" marL="652780" indent="-320040">
              <a:lnSpc>
                <a:spcPct val="100000"/>
              </a:lnSpc>
              <a:spcBef>
                <a:spcPts val="770"/>
              </a:spcBef>
              <a:buFont typeface="Corbel"/>
              <a:buChar char="–"/>
              <a:tabLst>
                <a:tab pos="652780" algn="l"/>
              </a:tabLst>
            </a:pPr>
            <a:r>
              <a:rPr dirty="0" sz="1200">
                <a:solidFill>
                  <a:srgbClr val="5A4D5A"/>
                </a:solidFill>
                <a:latin typeface="Calibri"/>
                <a:cs typeface="Calibri"/>
              </a:rPr>
              <a:t>If</a:t>
            </a:r>
            <a:r>
              <a:rPr dirty="0" sz="1200" spc="-45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5A4D5A"/>
                </a:solidFill>
                <a:latin typeface="Calibri"/>
                <a:cs typeface="Calibri"/>
              </a:rPr>
              <a:t>it</a:t>
            </a:r>
            <a:r>
              <a:rPr dirty="0" sz="1200" spc="-5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5A4D5A"/>
                </a:solidFill>
                <a:latin typeface="Calibri"/>
                <a:cs typeface="Calibri"/>
              </a:rPr>
              <a:t>is</a:t>
            </a:r>
            <a:r>
              <a:rPr dirty="0" sz="1200" spc="-25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5A4D5A"/>
                </a:solidFill>
                <a:latin typeface="Calibri"/>
                <a:cs typeface="Calibri"/>
              </a:rPr>
              <a:t>not</a:t>
            </a:r>
            <a:r>
              <a:rPr dirty="0" sz="1200" spc="-10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5A4D5A"/>
                </a:solidFill>
                <a:latin typeface="Calibri"/>
                <a:cs typeface="Calibri"/>
              </a:rPr>
              <a:t>sure</a:t>
            </a:r>
            <a:r>
              <a:rPr dirty="0" sz="1200" spc="-10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5A4D5A"/>
                </a:solidFill>
                <a:latin typeface="Calibri"/>
                <a:cs typeface="Calibri"/>
              </a:rPr>
              <a:t>what</a:t>
            </a:r>
            <a:r>
              <a:rPr dirty="0" sz="1200" spc="-25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5A4D5A"/>
                </a:solidFill>
                <a:latin typeface="Calibri"/>
                <a:cs typeface="Calibri"/>
              </a:rPr>
              <a:t>the</a:t>
            </a:r>
            <a:r>
              <a:rPr dirty="0" sz="1200" spc="-30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5A4D5A"/>
                </a:solidFill>
                <a:latin typeface="Calibri"/>
                <a:cs typeface="Calibri"/>
              </a:rPr>
              <a:t>user</a:t>
            </a:r>
            <a:r>
              <a:rPr dirty="0" sz="1200" spc="-40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5A4D5A"/>
                </a:solidFill>
                <a:latin typeface="Calibri"/>
                <a:cs typeface="Calibri"/>
              </a:rPr>
              <a:t>has</a:t>
            </a:r>
            <a:r>
              <a:rPr dirty="0" sz="1200" spc="-30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5A4D5A"/>
                </a:solidFill>
                <a:latin typeface="Calibri"/>
                <a:cs typeface="Calibri"/>
              </a:rPr>
              <a:t>in</a:t>
            </a:r>
            <a:r>
              <a:rPr dirty="0" sz="1200" spc="-15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5A4D5A"/>
                </a:solidFill>
                <a:latin typeface="Calibri"/>
                <a:cs typeface="Calibri"/>
              </a:rPr>
              <a:t>mind,</a:t>
            </a:r>
            <a:r>
              <a:rPr dirty="0" sz="1200" spc="-5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5A4D5A"/>
                </a:solidFill>
                <a:latin typeface="Calibri"/>
                <a:cs typeface="Calibri"/>
              </a:rPr>
              <a:t>it</a:t>
            </a:r>
            <a:r>
              <a:rPr dirty="0" sz="1200" spc="-10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5A4D5A"/>
                </a:solidFill>
                <a:latin typeface="Calibri"/>
                <a:cs typeface="Calibri"/>
              </a:rPr>
              <a:t>politely</a:t>
            </a:r>
            <a:r>
              <a:rPr dirty="0" sz="1200" spc="20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5A4D5A"/>
                </a:solidFill>
                <a:latin typeface="Calibri"/>
                <a:cs typeface="Calibri"/>
              </a:rPr>
              <a:t>asks</a:t>
            </a:r>
            <a:r>
              <a:rPr dirty="0" sz="1200" spc="-45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5A4D5A"/>
                </a:solidFill>
                <a:latin typeface="Calibri"/>
                <a:cs typeface="Calibri"/>
              </a:rPr>
              <a:t>for</a:t>
            </a:r>
            <a:r>
              <a:rPr dirty="0" sz="1200" spc="-20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5A4D5A"/>
                </a:solidFill>
                <a:latin typeface="Calibri"/>
                <a:cs typeface="Calibri"/>
              </a:rPr>
              <a:t>further</a:t>
            </a:r>
            <a:r>
              <a:rPr dirty="0" sz="1200" spc="-20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5A4D5A"/>
                </a:solidFill>
                <a:latin typeface="Calibri"/>
                <a:cs typeface="Calibri"/>
              </a:rPr>
              <a:t>explanation.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433705">
              <a:lnSpc>
                <a:spcPct val="100000"/>
              </a:lnSpc>
              <a:spcBef>
                <a:spcPts val="95"/>
              </a:spcBef>
            </a:pPr>
            <a:r>
              <a:rPr dirty="0"/>
              <a:t>Computer</a:t>
            </a:r>
            <a:r>
              <a:rPr dirty="0" spc="-180"/>
              <a:t> </a:t>
            </a:r>
            <a:r>
              <a:rPr dirty="0" spc="-10"/>
              <a:t>Languages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3013075" y="2308715"/>
            <a:ext cx="5120005" cy="3430904"/>
          </a:xfrm>
          <a:prstGeom prst="rect">
            <a:avLst/>
          </a:prstGeom>
        </p:spPr>
        <p:txBody>
          <a:bodyPr wrap="square" lIns="0" tIns="17526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380"/>
              </a:spcBef>
              <a:buFont typeface="Corbel"/>
              <a:buChar char="–"/>
              <a:tabLst>
                <a:tab pos="332740" algn="l"/>
              </a:tabLst>
            </a:pPr>
            <a:r>
              <a:rPr dirty="0" sz="2000">
                <a:solidFill>
                  <a:srgbClr val="5A4D5A"/>
                </a:solidFill>
                <a:latin typeface="Calibri"/>
                <a:cs typeface="Calibri"/>
              </a:rPr>
              <a:t>There</a:t>
            </a:r>
            <a:r>
              <a:rPr dirty="0" sz="2000" spc="-20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5A4D5A"/>
                </a:solidFill>
                <a:latin typeface="Calibri"/>
                <a:cs typeface="Calibri"/>
              </a:rPr>
              <a:t>are</a:t>
            </a:r>
            <a:r>
              <a:rPr dirty="0" sz="2000" spc="-70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5A4D5A"/>
                </a:solidFill>
                <a:latin typeface="Calibri"/>
                <a:cs typeface="Calibri"/>
              </a:rPr>
              <a:t>7</a:t>
            </a:r>
            <a:r>
              <a:rPr dirty="0" sz="2000" spc="-55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2000" spc="-10">
                <a:solidFill>
                  <a:srgbClr val="5A4D5A"/>
                </a:solidFill>
                <a:latin typeface="Calibri"/>
                <a:cs typeface="Calibri"/>
              </a:rPr>
              <a:t>categories</a:t>
            </a:r>
            <a:r>
              <a:rPr dirty="0" sz="2000" spc="20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5A4D5A"/>
                </a:solidFill>
                <a:latin typeface="Calibri"/>
                <a:cs typeface="Calibri"/>
              </a:rPr>
              <a:t>of</a:t>
            </a:r>
            <a:r>
              <a:rPr dirty="0" sz="2000" spc="-60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2000" spc="-10">
                <a:solidFill>
                  <a:srgbClr val="5A4D5A"/>
                </a:solidFill>
                <a:latin typeface="Calibri"/>
                <a:cs typeface="Calibri"/>
              </a:rPr>
              <a:t>computer</a:t>
            </a:r>
            <a:r>
              <a:rPr dirty="0" sz="2000" spc="-30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2000" spc="-10">
                <a:solidFill>
                  <a:srgbClr val="5A4D5A"/>
                </a:solidFill>
                <a:latin typeface="Calibri"/>
                <a:cs typeface="Calibri"/>
              </a:rPr>
              <a:t>languages:</a:t>
            </a:r>
            <a:endParaRPr sz="2000">
              <a:latin typeface="Calibri"/>
              <a:cs typeface="Calibri"/>
            </a:endParaRPr>
          </a:p>
          <a:p>
            <a:pPr lvl="1" marL="652780" indent="-320040">
              <a:lnSpc>
                <a:spcPct val="100000"/>
              </a:lnSpc>
              <a:spcBef>
                <a:spcPts val="1165"/>
              </a:spcBef>
              <a:buFont typeface="Corbel"/>
              <a:buChar char="–"/>
              <a:tabLst>
                <a:tab pos="652780" algn="l"/>
              </a:tabLst>
            </a:pP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Machine</a:t>
            </a:r>
            <a:r>
              <a:rPr dirty="0" sz="1800" spc="-30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and</a:t>
            </a:r>
            <a:r>
              <a:rPr dirty="0" sz="1800" spc="-50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assembly</a:t>
            </a:r>
            <a:r>
              <a:rPr dirty="0" sz="1800" spc="-15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5A4D5A"/>
                </a:solidFill>
                <a:latin typeface="Calibri"/>
                <a:cs typeface="Calibri"/>
              </a:rPr>
              <a:t>languages</a:t>
            </a:r>
            <a:endParaRPr sz="1800">
              <a:latin typeface="Calibri"/>
              <a:cs typeface="Calibri"/>
            </a:endParaRPr>
          </a:p>
          <a:p>
            <a:pPr lvl="1" marL="652780" indent="-320040">
              <a:lnSpc>
                <a:spcPct val="100000"/>
              </a:lnSpc>
              <a:spcBef>
                <a:spcPts val="1150"/>
              </a:spcBef>
              <a:buFont typeface="Corbel"/>
              <a:buChar char="–"/>
              <a:tabLst>
                <a:tab pos="652780" algn="l"/>
              </a:tabLst>
            </a:pP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Algorithmic</a:t>
            </a:r>
            <a:r>
              <a:rPr dirty="0" sz="1800" spc="-70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5A4D5A"/>
                </a:solidFill>
                <a:latin typeface="Calibri"/>
                <a:cs typeface="Calibri"/>
              </a:rPr>
              <a:t>languages</a:t>
            </a:r>
            <a:endParaRPr sz="1800">
              <a:latin typeface="Calibri"/>
              <a:cs typeface="Calibri"/>
            </a:endParaRPr>
          </a:p>
          <a:p>
            <a:pPr lvl="1" marL="652780" indent="-320040">
              <a:lnSpc>
                <a:spcPct val="100000"/>
              </a:lnSpc>
              <a:spcBef>
                <a:spcPts val="1130"/>
              </a:spcBef>
              <a:buFont typeface="Corbel"/>
              <a:buChar char="–"/>
              <a:tabLst>
                <a:tab pos="652780" algn="l"/>
              </a:tabLst>
            </a:pPr>
            <a:r>
              <a:rPr dirty="0" sz="1800" spc="-10">
                <a:solidFill>
                  <a:srgbClr val="5A4D5A"/>
                </a:solidFill>
                <a:latin typeface="Calibri"/>
                <a:cs typeface="Calibri"/>
              </a:rPr>
              <a:t>Business-</a:t>
            </a: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oriented</a:t>
            </a:r>
            <a:r>
              <a:rPr dirty="0" sz="1800" spc="-30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5A4D5A"/>
                </a:solidFill>
                <a:latin typeface="Calibri"/>
                <a:cs typeface="Calibri"/>
              </a:rPr>
              <a:t>languages</a:t>
            </a:r>
            <a:endParaRPr sz="1800">
              <a:latin typeface="Calibri"/>
              <a:cs typeface="Calibri"/>
            </a:endParaRPr>
          </a:p>
          <a:p>
            <a:pPr lvl="1" marL="652780" indent="-320040">
              <a:lnSpc>
                <a:spcPct val="100000"/>
              </a:lnSpc>
              <a:spcBef>
                <a:spcPts val="1155"/>
              </a:spcBef>
              <a:buFont typeface="Corbel"/>
              <a:buChar char="–"/>
              <a:tabLst>
                <a:tab pos="652780" algn="l"/>
              </a:tabLst>
            </a:pP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Computer</a:t>
            </a:r>
            <a:r>
              <a:rPr dirty="0" sz="1800" spc="-75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5A4D5A"/>
                </a:solidFill>
                <a:latin typeface="Calibri"/>
                <a:cs typeface="Calibri"/>
              </a:rPr>
              <a:t>programming</a:t>
            </a:r>
            <a:r>
              <a:rPr dirty="0" sz="1800" spc="-75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5A4D5A"/>
                </a:solidFill>
                <a:latin typeface="Calibri"/>
                <a:cs typeface="Calibri"/>
              </a:rPr>
              <a:t>language</a:t>
            </a:r>
            <a:endParaRPr sz="1800">
              <a:latin typeface="Calibri"/>
              <a:cs typeface="Calibri"/>
            </a:endParaRPr>
          </a:p>
          <a:p>
            <a:pPr lvl="1" marL="652780" indent="-320040">
              <a:lnSpc>
                <a:spcPct val="100000"/>
              </a:lnSpc>
              <a:spcBef>
                <a:spcPts val="1130"/>
              </a:spcBef>
              <a:buFont typeface="Corbel"/>
              <a:buChar char="–"/>
              <a:tabLst>
                <a:tab pos="652780" algn="l"/>
              </a:tabLst>
            </a:pPr>
            <a:r>
              <a:rPr dirty="0" sz="1800" spc="-20">
                <a:solidFill>
                  <a:srgbClr val="5A4D5A"/>
                </a:solidFill>
                <a:latin typeface="Calibri"/>
                <a:cs typeface="Calibri"/>
              </a:rPr>
              <a:t>Education-</a:t>
            </a: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oriented</a:t>
            </a:r>
            <a:r>
              <a:rPr dirty="0" sz="1800" spc="5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5A4D5A"/>
                </a:solidFill>
                <a:latin typeface="Calibri"/>
                <a:cs typeface="Calibri"/>
              </a:rPr>
              <a:t>languages</a:t>
            </a:r>
            <a:endParaRPr sz="1800">
              <a:latin typeface="Calibri"/>
              <a:cs typeface="Calibri"/>
            </a:endParaRPr>
          </a:p>
          <a:p>
            <a:pPr lvl="1" marL="652780" indent="-320040">
              <a:lnSpc>
                <a:spcPct val="100000"/>
              </a:lnSpc>
              <a:spcBef>
                <a:spcPts val="1130"/>
              </a:spcBef>
              <a:buFont typeface="Corbel"/>
              <a:buChar char="–"/>
              <a:tabLst>
                <a:tab pos="652780" algn="l"/>
              </a:tabLst>
            </a:pPr>
            <a:r>
              <a:rPr dirty="0" sz="1800" spc="-10">
                <a:solidFill>
                  <a:srgbClr val="5A4D5A"/>
                </a:solidFill>
                <a:latin typeface="Calibri"/>
                <a:cs typeface="Calibri"/>
              </a:rPr>
              <a:t>Object-</a:t>
            </a: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oriented</a:t>
            </a:r>
            <a:r>
              <a:rPr dirty="0" sz="1800" spc="-40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5A4D5A"/>
                </a:solidFill>
                <a:latin typeface="Calibri"/>
                <a:cs typeface="Calibri"/>
              </a:rPr>
              <a:t>languages</a:t>
            </a:r>
            <a:endParaRPr sz="1800">
              <a:latin typeface="Calibri"/>
              <a:cs typeface="Calibri"/>
            </a:endParaRPr>
          </a:p>
          <a:p>
            <a:pPr lvl="1" marL="652780" indent="-320040">
              <a:lnSpc>
                <a:spcPct val="100000"/>
              </a:lnSpc>
              <a:spcBef>
                <a:spcPts val="1155"/>
              </a:spcBef>
              <a:buFont typeface="Corbel"/>
              <a:buChar char="–"/>
              <a:tabLst>
                <a:tab pos="652780" algn="l"/>
              </a:tabLst>
            </a:pPr>
            <a:r>
              <a:rPr dirty="0" sz="1800" spc="-10">
                <a:solidFill>
                  <a:srgbClr val="5A4D5A"/>
                </a:solidFill>
                <a:latin typeface="Calibri"/>
                <a:cs typeface="Calibri"/>
              </a:rPr>
              <a:t>World</a:t>
            </a:r>
            <a:r>
              <a:rPr dirty="0" sz="1800" spc="-70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wide</a:t>
            </a:r>
            <a:r>
              <a:rPr dirty="0" sz="1800" spc="-40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web</a:t>
            </a:r>
            <a:r>
              <a:rPr dirty="0" sz="1800" spc="-50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5A4D5A"/>
                </a:solidFill>
                <a:latin typeface="Calibri"/>
                <a:cs typeface="Calibri"/>
              </a:rPr>
              <a:t>display</a:t>
            </a:r>
            <a:r>
              <a:rPr dirty="0" sz="1800" spc="-15">
                <a:solidFill>
                  <a:srgbClr val="5A4D5A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5A4D5A"/>
                </a:solidFill>
                <a:latin typeface="Calibri"/>
                <a:cs typeface="Calibri"/>
              </a:rPr>
              <a:t>languages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SYED ZAID IRSHAD</dc:creator>
  <dc:title>Computer Programming</dc:title>
  <dcterms:created xsi:type="dcterms:W3CDTF">2025-06-19T16:23:05Z</dcterms:created>
  <dcterms:modified xsi:type="dcterms:W3CDTF">2025-06-19T16:23:05Z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2021-01-05T00:00:00Z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2025-06-19T00:00:00Z</vt:filetime>
  </property>
  <property fmtid="{D5CDD505-2E9C-101B-9397-08002B2CF9AE}" pid="5" name="Producer">
    <vt:lpwstr>Microsoft® PowerPoint® 2016</vt:lpwstr>
  </property>
</Properties>
</file>